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1"/>
  </p:notesMasterIdLst>
  <p:sldIdLst>
    <p:sldId id="283" r:id="rId2"/>
    <p:sldId id="257" r:id="rId3"/>
    <p:sldId id="282" r:id="rId4"/>
    <p:sldId id="285" r:id="rId5"/>
    <p:sldId id="278" r:id="rId6"/>
    <p:sldId id="281" r:id="rId7"/>
    <p:sldId id="279" r:id="rId8"/>
    <p:sldId id="262" r:id="rId9"/>
    <p:sldId id="264" r:id="rId10"/>
    <p:sldId id="290" r:id="rId11"/>
    <p:sldId id="291" r:id="rId12"/>
    <p:sldId id="292" r:id="rId13"/>
    <p:sldId id="277" r:id="rId14"/>
    <p:sldId id="286" r:id="rId15"/>
    <p:sldId id="287" r:id="rId16"/>
    <p:sldId id="280" r:id="rId17"/>
    <p:sldId id="288" r:id="rId18"/>
    <p:sldId id="289" r:id="rId19"/>
    <p:sldId id="276" r:id="rId20"/>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Default Section" id="{970B71E5-95B6-48D0-997A-266FFB9B6CF6}">
          <p14:sldIdLst>
            <p14:sldId id="283"/>
            <p14:sldId id="257"/>
            <p14:sldId id="282"/>
            <p14:sldId id="285"/>
            <p14:sldId id="278"/>
            <p14:sldId id="281"/>
            <p14:sldId id="279"/>
            <p14:sldId id="262"/>
            <p14:sldId id="264"/>
            <p14:sldId id="290"/>
            <p14:sldId id="291"/>
            <p14:sldId id="292"/>
            <p14:sldId id="277"/>
            <p14:sldId id="286"/>
            <p14:sldId id="287"/>
            <p14:sldId id="280"/>
            <p14:sldId id="288"/>
            <p14:sldId id="289"/>
            <p14:sldId id="276"/>
          </p14:sldIdLst>
        </p14:section>
      </p14:sectionLst>
    </p:ex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8116" autoAdjust="0"/>
  </p:normalViewPr>
  <p:slideViewPr>
    <p:cSldViewPr snapToGrid="0">
      <p:cViewPr varScale="1">
        <p:scale>
          <a:sx n="75" d="100"/>
          <a:sy n="75" d="100"/>
        </p:scale>
        <p:origin x="946"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Xavior Priya" userId="6e49bc1e2b637825" providerId="LiveId" clId="{CFD6C528-760C-415F-9B04-358452EDFD12}"/>
    <pc:docChg chg="undo custSel modSld">
      <pc:chgData name="Xavior Priya" userId="6e49bc1e2b637825" providerId="LiveId" clId="{CFD6C528-760C-415F-9B04-358452EDFD12}" dt="2026-09-11T16:53:58.049" v="199" actId="20577"/>
      <pc:docMkLst>
        <pc:docMk/>
      </pc:docMkLst>
      <pc:sldChg chg="addSp modSp mod">
        <pc:chgData name="Xavior Priya" userId="6e49bc1e2b637825" providerId="LiveId" clId="{CFD6C528-760C-415F-9B04-358452EDFD12}" dt="2026-09-11T16:44:48.382" v="46" actId="14100"/>
        <pc:sldMkLst>
          <pc:docMk/>
          <pc:sldMk cId="0" sldId="257"/>
        </pc:sldMkLst>
        <pc:picChg chg="add mod">
          <ac:chgData name="Xavior Priya" userId="6e49bc1e2b637825" providerId="LiveId" clId="{CFD6C528-760C-415F-9B04-358452EDFD12}" dt="2026-09-11T16:44:48.382" v="46" actId="14100"/>
          <ac:picMkLst>
            <pc:docMk/>
            <pc:sldMk cId="0" sldId="257"/>
            <ac:picMk id="3" creationId="{EADEA32E-0B25-8A62-1466-9B421828BB8C}"/>
          </ac:picMkLst>
        </pc:picChg>
      </pc:sldChg>
      <pc:sldChg chg="addSp delSp modSp mod">
        <pc:chgData name="Xavior Priya" userId="6e49bc1e2b637825" providerId="LiveId" clId="{CFD6C528-760C-415F-9B04-358452EDFD12}" dt="2026-09-11T16:31:04.844" v="29" actId="20577"/>
        <pc:sldMkLst>
          <pc:docMk/>
          <pc:sldMk cId="2115484872" sldId="277"/>
        </pc:sldMkLst>
        <pc:spChg chg="mod">
          <ac:chgData name="Xavior Priya" userId="6e49bc1e2b637825" providerId="LiveId" clId="{CFD6C528-760C-415F-9B04-358452EDFD12}" dt="2026-09-11T16:31:04.844" v="29" actId="20577"/>
          <ac:spMkLst>
            <pc:docMk/>
            <pc:sldMk cId="2115484872" sldId="277"/>
            <ac:spMk id="5" creationId="{1BD576A0-BF64-32B6-1E59-49AA2C59C5CE}"/>
          </ac:spMkLst>
        </pc:spChg>
        <pc:picChg chg="add mod">
          <ac:chgData name="Xavior Priya" userId="6e49bc1e2b637825" providerId="LiveId" clId="{CFD6C528-760C-415F-9B04-358452EDFD12}" dt="2026-09-11T16:30:17.178" v="17" actId="1076"/>
          <ac:picMkLst>
            <pc:docMk/>
            <pc:sldMk cId="2115484872" sldId="277"/>
            <ac:picMk id="3" creationId="{78263BA6-BD08-4A49-041E-730C483CABA3}"/>
          </ac:picMkLst>
        </pc:picChg>
        <pc:picChg chg="add mod">
          <ac:chgData name="Xavior Priya" userId="6e49bc1e2b637825" providerId="LiveId" clId="{CFD6C528-760C-415F-9B04-358452EDFD12}" dt="2026-09-11T16:30:14.788" v="16" actId="1076"/>
          <ac:picMkLst>
            <pc:docMk/>
            <pc:sldMk cId="2115484872" sldId="277"/>
            <ac:picMk id="6" creationId="{F80904F0-AAE7-2F2A-9B3A-F128463ED2D2}"/>
          </ac:picMkLst>
        </pc:picChg>
        <pc:picChg chg="del">
          <ac:chgData name="Xavior Priya" userId="6e49bc1e2b637825" providerId="LiveId" clId="{CFD6C528-760C-415F-9B04-358452EDFD12}" dt="2026-09-11T16:24:19.011" v="0" actId="478"/>
          <ac:picMkLst>
            <pc:docMk/>
            <pc:sldMk cId="2115484872" sldId="277"/>
            <ac:picMk id="12" creationId="{3E29AF1D-88C4-87E5-74DF-4E97121E06CE}"/>
          </ac:picMkLst>
        </pc:picChg>
        <pc:picChg chg="del">
          <ac:chgData name="Xavior Priya" userId="6e49bc1e2b637825" providerId="LiveId" clId="{CFD6C528-760C-415F-9B04-358452EDFD12}" dt="2026-09-11T16:29:09.677" v="1" actId="478"/>
          <ac:picMkLst>
            <pc:docMk/>
            <pc:sldMk cId="2115484872" sldId="277"/>
            <ac:picMk id="13" creationId="{C81444F5-0692-DD67-1759-70821E53B029}"/>
          </ac:picMkLst>
        </pc:picChg>
      </pc:sldChg>
      <pc:sldChg chg="modSp mod">
        <pc:chgData name="Xavior Priya" userId="6e49bc1e2b637825" providerId="LiveId" clId="{CFD6C528-760C-415F-9B04-358452EDFD12}" dt="2026-09-11T16:48:20.787" v="87" actId="20577"/>
        <pc:sldMkLst>
          <pc:docMk/>
          <pc:sldMk cId="2952584201" sldId="282"/>
        </pc:sldMkLst>
        <pc:spChg chg="mod">
          <ac:chgData name="Xavior Priya" userId="6e49bc1e2b637825" providerId="LiveId" clId="{CFD6C528-760C-415F-9B04-358452EDFD12}" dt="2026-09-11T16:48:20.787" v="87" actId="20577"/>
          <ac:spMkLst>
            <pc:docMk/>
            <pc:sldMk cId="2952584201" sldId="282"/>
            <ac:spMk id="2" creationId="{C6F6745E-14BA-0766-CE1E-32E29663832D}"/>
          </ac:spMkLst>
        </pc:spChg>
      </pc:sldChg>
      <pc:sldChg chg="modSp mod">
        <pc:chgData name="Xavior Priya" userId="6e49bc1e2b637825" providerId="LiveId" clId="{CFD6C528-760C-415F-9B04-358452EDFD12}" dt="2026-09-11T16:53:58.049" v="199" actId="20577"/>
        <pc:sldMkLst>
          <pc:docMk/>
          <pc:sldMk cId="2605851928" sldId="287"/>
        </pc:sldMkLst>
        <pc:spChg chg="mod">
          <ac:chgData name="Xavior Priya" userId="6e49bc1e2b637825" providerId="LiveId" clId="{CFD6C528-760C-415F-9B04-358452EDFD12}" dt="2026-09-11T16:53:58.049" v="199" actId="20577"/>
          <ac:spMkLst>
            <pc:docMk/>
            <pc:sldMk cId="2605851928" sldId="287"/>
            <ac:spMk id="279" creationId="{3711AF54-94A6-B837-31EF-9A8C4ECB9AF6}"/>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a:t>IBM University Engagement Project Submission</a:t>
            </a:r>
            <a:br>
              <a:rPr lang="en-US" b="1"/>
            </a:br>
            <a:endParaRPr lang="en-IN"/>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a:t>“Exploring the Power of Agentic AI with IBM Granite and </a:t>
            </a:r>
            <a:r>
              <a:rPr lang="en-US" b="1" i="1" err="1"/>
              <a:t>LangFlow</a:t>
            </a:r>
            <a:r>
              <a:rPr lang="en-US" b="1" i="1"/>
              <a:t>”</a:t>
            </a:r>
            <a:endParaRPr lang="en-IN"/>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2918983337"/>
              </p:ext>
            </p:extLst>
          </p:nvPr>
        </p:nvGraphicFramePr>
        <p:xfrm>
          <a:off x="705583" y="2600315"/>
          <a:ext cx="10700850" cy="2518440"/>
        </p:xfrm>
        <a:graphic>
          <a:graphicData uri="http://schemas.openxmlformats.org/drawingml/2006/table">
            <a:tbl>
              <a:tblPr>
                <a:noFill/>
                <a:tableStyleId>{0AAD8F4D-43EB-41E5-8A38-28AB6DFB1B60}</a:tableStyleId>
              </a:tblPr>
              <a:tblGrid>
                <a:gridCol w="2169592">
                  <a:extLst>
                    <a:ext uri="{9D8B030D-6E8A-4147-A177-3AD203B41FA5}">
                      <a16:colId xmlns:a16="http://schemas.microsoft.com/office/drawing/2014/main" val="20000"/>
                    </a:ext>
                  </a:extLst>
                </a:gridCol>
                <a:gridCol w="2556597">
                  <a:extLst>
                    <a:ext uri="{9D8B030D-6E8A-4147-A177-3AD203B41FA5}">
                      <a16:colId xmlns:a16="http://schemas.microsoft.com/office/drawing/2014/main" val="20002"/>
                    </a:ext>
                  </a:extLst>
                </a:gridCol>
                <a:gridCol w="3787642">
                  <a:extLst>
                    <a:ext uri="{9D8B030D-6E8A-4147-A177-3AD203B41FA5}">
                      <a16:colId xmlns:a16="http://schemas.microsoft.com/office/drawing/2014/main" val="20003"/>
                    </a:ext>
                  </a:extLst>
                </a:gridCol>
                <a:gridCol w="2187019">
                  <a:extLst>
                    <a:ext uri="{9D8B030D-6E8A-4147-A177-3AD203B41FA5}">
                      <a16:colId xmlns:a16="http://schemas.microsoft.com/office/drawing/2014/main" val="20004"/>
                    </a:ext>
                  </a:extLst>
                </a:gridCol>
              </a:tblGrid>
              <a:tr h="1131008">
                <a:tc>
                  <a:txBody>
                    <a:bodyPr/>
                    <a:lstStyle/>
                    <a:p>
                      <a:pPr marL="0" marR="0" lvl="0" indent="0" algn="ctr" rtl="0">
                        <a:lnSpc>
                          <a:spcPct val="200000"/>
                        </a:lnSpc>
                        <a:spcBef>
                          <a:spcPts val="0"/>
                        </a:spcBef>
                        <a:spcAft>
                          <a:spcPts val="0"/>
                        </a:spcAft>
                        <a:buNone/>
                      </a:pPr>
                      <a:r>
                        <a:rPr lang="en-US" sz="1800" u="none" strike="noStrike" cap="none" dirty="0"/>
                        <a:t>Student Name</a:t>
                      </a:r>
                      <a:endParaRPr sz="1800" u="none" strike="noStrike" cap="none"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200000"/>
                        </a:lnSpc>
                        <a:spcBef>
                          <a:spcPts val="0"/>
                        </a:spcBef>
                        <a:spcAft>
                          <a:spcPts val="0"/>
                        </a:spcAft>
                        <a:buNone/>
                      </a:pPr>
                      <a:r>
                        <a:rPr lang="en-US" sz="1800" u="none" strike="noStrike" cap="none" dirty="0"/>
                        <a:t>Recent Passport Photo</a:t>
                      </a:r>
                      <a:endParaRPr sz="1800" u="none" strike="noStrike" cap="none" dirty="0"/>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200000"/>
                        </a:lnSpc>
                        <a:spcBef>
                          <a:spcPts val="0"/>
                        </a:spcBef>
                        <a:spcAft>
                          <a:spcPts val="0"/>
                        </a:spcAft>
                        <a:buClr>
                          <a:srgbClr val="000000"/>
                        </a:buClr>
                        <a:buSzPts val="1800"/>
                        <a:buFont typeface="Arial"/>
                        <a:buNone/>
                      </a:pPr>
                      <a:r>
                        <a:rPr lang="en-US" sz="1800" b="0" i="0" u="none" strike="noStrike" cap="none" dirty="0">
                          <a:solidFill>
                            <a:srgbClr val="000000"/>
                          </a:solidFill>
                          <a:latin typeface="Arial"/>
                          <a:ea typeface="Calibri"/>
                          <a:cs typeface="Arial"/>
                          <a:sym typeface="Calibri"/>
                        </a:rPr>
                        <a:t>Email ID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2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2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387432">
                <a:tc>
                  <a:txBody>
                    <a:bodyPr/>
                    <a:lstStyle/>
                    <a:p>
                      <a:pPr marL="0" marR="0" lvl="0" indent="0" algn="ctr" rtl="0">
                        <a:lnSpc>
                          <a:spcPct val="200000"/>
                        </a:lnSpc>
                        <a:spcBef>
                          <a:spcPts val="0"/>
                        </a:spcBef>
                        <a:spcAft>
                          <a:spcPts val="0"/>
                        </a:spcAft>
                        <a:buNone/>
                      </a:pPr>
                      <a:r>
                        <a:rPr lang="en-IN" sz="2000" dirty="0"/>
                        <a:t>Sejal Nirat M</a:t>
                      </a:r>
                      <a:endParaRPr sz="20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ctr" rtl="0">
                        <a:lnSpc>
                          <a:spcPct val="200000"/>
                        </a:lnSpc>
                        <a:spcBef>
                          <a:spcPts val="0"/>
                        </a:spcBef>
                        <a:spcAft>
                          <a:spcPts val="0"/>
                        </a:spcAft>
                        <a:buNone/>
                      </a:pPr>
                      <a:endParaRPr sz="20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ctr" rtl="0">
                        <a:lnSpc>
                          <a:spcPct val="200000"/>
                        </a:lnSpc>
                        <a:spcBef>
                          <a:spcPts val="0"/>
                        </a:spcBef>
                        <a:spcAft>
                          <a:spcPts val="0"/>
                        </a:spcAft>
                        <a:buNone/>
                      </a:pPr>
                      <a:r>
                        <a:rPr lang="en-IN" sz="2000" dirty="0"/>
                        <a:t>160625737054@stanley.edu.in</a:t>
                      </a:r>
                      <a:endParaRPr sz="20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ctr" rtl="0">
                        <a:lnSpc>
                          <a:spcPct val="200000"/>
                        </a:lnSpc>
                        <a:spcBef>
                          <a:spcPts val="0"/>
                        </a:spcBef>
                        <a:spcAft>
                          <a:spcPts val="0"/>
                        </a:spcAft>
                        <a:buNone/>
                      </a:pPr>
                      <a:r>
                        <a:rPr lang="en-IN" sz="2000" dirty="0"/>
                        <a:t>9550203970</a:t>
                      </a:r>
                      <a:endParaRPr sz="20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dirty="0"/>
              <a:t>Domain of  Project – </a:t>
            </a:r>
            <a:r>
              <a:rPr lang="en-US" sz="2400" b="1" dirty="0">
                <a:highlight>
                  <a:srgbClr val="FFFF00"/>
                </a:highlight>
              </a:rPr>
              <a:t>[ like Agriculture / Education / Healthcare / … ]</a:t>
            </a:r>
            <a:endParaRPr lang="en-IN" sz="2400" b="1"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523220"/>
          </a:xfrm>
          <a:prstGeom prst="rect">
            <a:avLst/>
          </a:prstGeom>
          <a:noFill/>
        </p:spPr>
        <p:txBody>
          <a:bodyPr wrap="square" rtlCol="0">
            <a:spAutoFit/>
          </a:bodyPr>
          <a:lstStyle/>
          <a:p>
            <a:r>
              <a:rPr lang="en-US" sz="2400" b="1" dirty="0"/>
              <a:t>Project Tile – </a:t>
            </a:r>
            <a:r>
              <a:rPr lang="en-IN" sz="2800" b="1" dirty="0"/>
              <a:t>AI Career Counsellor Rural Youth</a:t>
            </a:r>
            <a:endParaRPr lang="en-IN" sz="2800" b="1" dirty="0">
              <a:highlight>
                <a:srgbClr val="FFFF00"/>
              </a:highlight>
            </a:endParaRPr>
          </a:p>
        </p:txBody>
      </p:sp>
      <p:pic>
        <p:nvPicPr>
          <p:cNvPr id="3" name="Picture 2">
            <a:extLst>
              <a:ext uri="{FF2B5EF4-FFF2-40B4-BE49-F238E27FC236}">
                <a16:creationId xmlns:a16="http://schemas.microsoft.com/office/drawing/2014/main" id="{EADEA32E-0B25-8A62-1466-9B421828BB8C}"/>
              </a:ext>
            </a:extLst>
          </p:cNvPr>
          <p:cNvPicPr>
            <a:picLocks noChangeAspect="1"/>
          </p:cNvPicPr>
          <p:nvPr/>
        </p:nvPicPr>
        <p:blipFill>
          <a:blip r:embed="rId3"/>
          <a:stretch>
            <a:fillRect/>
          </a:stretch>
        </p:blipFill>
        <p:spPr>
          <a:xfrm>
            <a:off x="3474720" y="3789680"/>
            <a:ext cx="1300480" cy="117856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234440"/>
            <a:ext cx="10607040" cy="3877985"/>
          </a:xfrm>
          <a:prstGeom prst="rect">
            <a:avLst/>
          </a:prstGeom>
          <a:noFill/>
        </p:spPr>
        <p:txBody>
          <a:bodyPr wrap="square" rtlCol="0">
            <a:spAutoFit/>
          </a:bodyPr>
          <a:lstStyle/>
          <a:p>
            <a:pPr fontAlgn="base"/>
            <a:r>
              <a:rPr lang="en-IN" b="1" dirty="0"/>
              <a:t>Problem Statement No.23 - AI Career Counsellor Rural Youth</a:t>
            </a:r>
          </a:p>
          <a:p>
            <a:pPr fontAlgn="base"/>
            <a:endParaRPr lang="en-US" b="1" dirty="0"/>
          </a:p>
          <a:p>
            <a:pPr fontAlgn="base"/>
            <a:r>
              <a:rPr lang="en-US" b="1" dirty="0"/>
              <a:t>The Challenge</a:t>
            </a:r>
            <a:r>
              <a:rPr lang="en-US" dirty="0"/>
              <a:t> </a:t>
            </a:r>
          </a:p>
          <a:p>
            <a:pPr fontAlgn="base"/>
            <a:r>
              <a:rPr lang="en-IN" dirty="0"/>
              <a:t>	</a:t>
            </a:r>
            <a:r>
              <a:rPr lang="en-IN" sz="1600" dirty="0"/>
              <a:t>Youth in rural areas often lack access to structured career guidance due to limited exposure, absence of professional counsellors, and poor awareness of skill development opportunities. Many students are unaware of job-oriented courses, government schemes, or online training platforms that could help them build a career aligned with their interests. Traditional methods of career counselling are not scalable and fail to reach underserved communities, contributing to skill mismatch, underemployment, and loss of potential. There is a strong need for a smart, localized, and accessible solution that can provide personalized career guidance to rural youth based on real-time, trusted information.</a:t>
            </a:r>
          </a:p>
          <a:p>
            <a:pPr fontAlgn="base"/>
            <a:endParaRPr lang="en-US" dirty="0"/>
          </a:p>
          <a:p>
            <a:pPr fontAlgn="base"/>
            <a:r>
              <a:rPr lang="en-US" b="1" dirty="0"/>
              <a:t>The Objective</a:t>
            </a:r>
            <a:r>
              <a:rPr lang="en-US" dirty="0"/>
              <a:t> </a:t>
            </a:r>
          </a:p>
          <a:p>
            <a:pPr fontAlgn="base"/>
            <a:endParaRPr lang="en-US" sz="1600" dirty="0"/>
          </a:p>
          <a:p>
            <a:r>
              <a:rPr lang="en-IN" sz="1600" dirty="0">
                <a:latin typeface="+mn-lt"/>
              </a:rPr>
              <a:t>A rural youth in India — with just a phone and basic internet — should be able to open </a:t>
            </a:r>
            <a:r>
              <a:rPr lang="en-IN" sz="1600" dirty="0" err="1">
                <a:latin typeface="+mn-lt"/>
              </a:rPr>
              <a:t>DiशाBot</a:t>
            </a:r>
            <a:r>
              <a:rPr lang="en-IN" sz="1600" dirty="0">
                <a:latin typeface="+mn-lt"/>
              </a:rPr>
              <a:t>, describe their background in Hindi or English, and walk away with a </a:t>
            </a:r>
            <a:r>
              <a:rPr lang="en-IN" sz="1600" b="1" dirty="0">
                <a:latin typeface="+mn-lt"/>
              </a:rPr>
              <a:t>clear 90-day career action plan</a:t>
            </a:r>
            <a:r>
              <a:rPr lang="en-IN" sz="1600" dirty="0">
                <a:latin typeface="+mn-lt"/>
              </a:rPr>
              <a:t>, knowing exactly which government scheme to apply for, which free course to </a:t>
            </a:r>
            <a:r>
              <a:rPr lang="en-IN" sz="1600" dirty="0" err="1">
                <a:latin typeface="+mn-lt"/>
              </a:rPr>
              <a:t>enroll</a:t>
            </a:r>
            <a:r>
              <a:rPr lang="en-IN" sz="1600" dirty="0">
                <a:latin typeface="+mn-lt"/>
              </a:rPr>
              <a:t> in, and what income to expect in 2–3 years</a:t>
            </a:r>
            <a:r>
              <a:rPr lang="en-IN" sz="1600" dirty="0"/>
              <a:t>.</a:t>
            </a:r>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a:t>Problem Statement -</a:t>
            </a:r>
            <a:endParaRPr lang="en-IN" sz="2400" b="1"/>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234440"/>
            <a:ext cx="5977128" cy="2677656"/>
          </a:xfrm>
          <a:prstGeom prst="rect">
            <a:avLst/>
          </a:prstGeom>
          <a:noFill/>
        </p:spPr>
        <p:txBody>
          <a:bodyPr wrap="square" rtlCol="0">
            <a:spAutoFit/>
          </a:bodyPr>
          <a:lstStyle/>
          <a:p>
            <a:pPr fontAlgn="base"/>
            <a:endParaRPr lang="en-US" b="1" dirty="0"/>
          </a:p>
          <a:p>
            <a:r>
              <a:rPr lang="en-US" b="1" dirty="0"/>
              <a:t>Proposed Solution:  </a:t>
            </a:r>
            <a:r>
              <a:rPr lang="en-IN" dirty="0"/>
              <a:t>AI Mentor for Rural Youth</a:t>
            </a:r>
          </a:p>
          <a:p>
            <a:endParaRPr lang="en-IN" dirty="0"/>
          </a:p>
          <a:p>
            <a:r>
              <a:rPr lang="en-IN" dirty="0"/>
              <a:t> </a:t>
            </a:r>
            <a:r>
              <a:rPr lang="en-IN" sz="1800" dirty="0" err="1"/>
              <a:t>DiशाBot</a:t>
            </a:r>
            <a:r>
              <a:rPr lang="en-IN" sz="1800" dirty="0"/>
              <a:t> uses IBM Granite 4 as a multi-role agentic AI — simultaneously acting as a career counsellor, scheme advisor, action planner, and bilingual mentor — to give every rural youth in India the same quality of guidance that was previously available only to the privileged few in cities, at zero cost, in their own language, on any device with a browser.</a:t>
            </a:r>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a:t>Proposed Solution -</a:t>
            </a:r>
            <a:endParaRPr lang="en-IN" sz="2400" b="1"/>
          </a:p>
        </p:txBody>
      </p:sp>
      <p:pic>
        <p:nvPicPr>
          <p:cNvPr id="5" name="Picture 4">
            <a:extLst>
              <a:ext uri="{FF2B5EF4-FFF2-40B4-BE49-F238E27FC236}">
                <a16:creationId xmlns:a16="http://schemas.microsoft.com/office/drawing/2014/main" id="{5CB23570-9CA8-9109-A5D1-8625F88C871A}"/>
              </a:ext>
            </a:extLst>
          </p:cNvPr>
          <p:cNvPicPr>
            <a:picLocks noChangeAspect="1"/>
          </p:cNvPicPr>
          <p:nvPr/>
        </p:nvPicPr>
        <p:blipFill>
          <a:blip r:embed="rId3"/>
          <a:stretch>
            <a:fillRect/>
          </a:stretch>
        </p:blipFill>
        <p:spPr>
          <a:xfrm>
            <a:off x="6768222" y="704088"/>
            <a:ext cx="4588996" cy="5564632"/>
          </a:xfrm>
          <a:prstGeom prst="rect">
            <a:avLst/>
          </a:prstGeom>
        </p:spPr>
      </p:pic>
    </p:spTree>
    <p:extLst>
      <p:ext uri="{BB962C8B-B14F-4D97-AF65-F5344CB8AC3E}">
        <p14:creationId xmlns:p14="http://schemas.microsoft.com/office/powerpoint/2010/main" val="22902949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lIns="91440" tIns="45720" rIns="91440" bIns="45720" rtlCol="0" anchor="t">
            <a:spAutoFit/>
          </a:bodyPr>
          <a:lstStyle/>
          <a:p>
            <a:r>
              <a:rPr lang="en-US" sz="2400" b="1"/>
              <a:t>Technology Used</a:t>
            </a:r>
            <a:endParaRPr lang="en-IN" sz="2400" b="1"/>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1077218"/>
          </a:xfrm>
          <a:prstGeom prst="rect">
            <a:avLst/>
          </a:prstGeom>
          <a:noFill/>
        </p:spPr>
        <p:txBody>
          <a:bodyPr wrap="square" rtlCol="0">
            <a:spAutoFit/>
          </a:bodyPr>
          <a:lstStyle/>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endParaRPr lang="en-US" dirty="0"/>
          </a:p>
          <a:p>
            <a:endParaRPr lang="en-IN" dirty="0"/>
          </a:p>
        </p:txBody>
      </p:sp>
      <p:pic>
        <p:nvPicPr>
          <p:cNvPr id="5" name="Picture 4">
            <a:extLst>
              <a:ext uri="{FF2B5EF4-FFF2-40B4-BE49-F238E27FC236}">
                <a16:creationId xmlns:a16="http://schemas.microsoft.com/office/drawing/2014/main" id="{145AF88C-C357-97DA-BABF-23FA401DAA39}"/>
              </a:ext>
            </a:extLst>
          </p:cNvPr>
          <p:cNvPicPr>
            <a:picLocks noChangeAspect="1"/>
          </p:cNvPicPr>
          <p:nvPr/>
        </p:nvPicPr>
        <p:blipFill>
          <a:blip r:embed="rId3"/>
          <a:stretch>
            <a:fillRect/>
          </a:stretch>
        </p:blipFill>
        <p:spPr>
          <a:xfrm>
            <a:off x="0" y="1542483"/>
            <a:ext cx="12192000" cy="2004907"/>
          </a:xfrm>
          <a:prstGeom prst="rect">
            <a:avLst/>
          </a:prstGeom>
        </p:spPr>
      </p:pic>
      <p:sp>
        <p:nvSpPr>
          <p:cNvPr id="7" name="TextBox 6">
            <a:extLst>
              <a:ext uri="{FF2B5EF4-FFF2-40B4-BE49-F238E27FC236}">
                <a16:creationId xmlns:a16="http://schemas.microsoft.com/office/drawing/2014/main" id="{C4E49D75-751E-FF2A-1434-E20DFB2B8220}"/>
              </a:ext>
            </a:extLst>
          </p:cNvPr>
          <p:cNvSpPr txBox="1"/>
          <p:nvPr/>
        </p:nvSpPr>
        <p:spPr>
          <a:xfrm>
            <a:off x="650240" y="4276785"/>
            <a:ext cx="10642600" cy="1323439"/>
          </a:xfrm>
          <a:prstGeom prst="rect">
            <a:avLst/>
          </a:prstGeom>
          <a:noFill/>
        </p:spPr>
        <p:txBody>
          <a:bodyPr wrap="square">
            <a:spAutoFit/>
          </a:bodyPr>
          <a:lstStyle/>
          <a:p>
            <a:r>
              <a:rPr lang="en-IN" sz="2000" b="0" i="0" dirty="0">
                <a:solidFill>
                  <a:schemeClr val="tx1"/>
                </a:solidFill>
                <a:effectLst/>
                <a:latin typeface="Segoe WPC"/>
              </a:rPr>
              <a:t>IBM Granite + IBM Cloud + Watsonx.ai are </a:t>
            </a:r>
            <a:r>
              <a:rPr lang="en-IN" sz="2000" b="1" i="0" dirty="0">
                <a:solidFill>
                  <a:schemeClr val="tx1"/>
                </a:solidFill>
                <a:effectLst/>
                <a:latin typeface="Segoe WPC"/>
              </a:rPr>
              <a:t>live and working</a:t>
            </a:r>
            <a:r>
              <a:rPr lang="en-IN" sz="2000" b="0" i="0" dirty="0">
                <a:solidFill>
                  <a:schemeClr val="tx1"/>
                </a:solidFill>
                <a:effectLst/>
                <a:latin typeface="Segoe WPC"/>
              </a:rPr>
              <a:t> in the app right now. </a:t>
            </a:r>
            <a:r>
              <a:rPr lang="en-IN" sz="2000" b="0" i="0" dirty="0" err="1">
                <a:solidFill>
                  <a:schemeClr val="tx1"/>
                </a:solidFill>
                <a:effectLst/>
                <a:latin typeface="Segoe WPC"/>
              </a:rPr>
              <a:t>Langflow</a:t>
            </a:r>
            <a:r>
              <a:rPr lang="en-IN" sz="2000" b="0" i="0" dirty="0">
                <a:solidFill>
                  <a:schemeClr val="tx1"/>
                </a:solidFill>
                <a:effectLst/>
                <a:latin typeface="Segoe WPC"/>
              </a:rPr>
              <a:t> represents the </a:t>
            </a:r>
            <a:r>
              <a:rPr lang="en-IN" sz="2000" b="1" i="0" dirty="0">
                <a:solidFill>
                  <a:schemeClr val="tx1"/>
                </a:solidFill>
                <a:effectLst/>
                <a:latin typeface="Segoe WPC"/>
              </a:rPr>
              <a:t>visual design</a:t>
            </a:r>
            <a:r>
              <a:rPr lang="en-IN" sz="2000" b="0" i="0" dirty="0">
                <a:solidFill>
                  <a:schemeClr val="tx1"/>
                </a:solidFill>
                <a:effectLst/>
                <a:latin typeface="Segoe WPC"/>
              </a:rPr>
              <a:t> of the same logic already coded in Express. RAG + Vector DB are the </a:t>
            </a:r>
            <a:r>
              <a:rPr lang="en-IN" sz="2000" b="1" i="0" dirty="0">
                <a:solidFill>
                  <a:schemeClr val="tx1"/>
                </a:solidFill>
                <a:effectLst/>
                <a:latin typeface="Segoe WPC"/>
              </a:rPr>
              <a:t>next major upgrade</a:t>
            </a:r>
            <a:r>
              <a:rPr lang="en-IN" sz="2000" b="0" i="0" dirty="0">
                <a:solidFill>
                  <a:schemeClr val="tx1"/>
                </a:solidFill>
                <a:effectLst/>
                <a:latin typeface="Segoe WPC"/>
              </a:rPr>
              <a:t> — they would replace the static scheme cards with live, sourced, always-accurate government data.</a:t>
            </a:r>
            <a:endParaRPr lang="en-IN" sz="2000" dirty="0">
              <a:solidFill>
                <a:schemeClr val="tx1"/>
              </a:solidFill>
            </a:endParaRPr>
          </a:p>
        </p:txBody>
      </p:sp>
    </p:spTree>
    <p:extLst>
      <p:ext uri="{BB962C8B-B14F-4D97-AF65-F5344CB8AC3E}">
        <p14:creationId xmlns:p14="http://schemas.microsoft.com/office/powerpoint/2010/main" val="37644058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err="1">
                <a:sym typeface="Times New Roman"/>
              </a:rPr>
              <a:t>Langflow</a:t>
            </a:r>
            <a:r>
              <a:rPr lang="en-US" sz="3500" b="1" i="0" u="none" strike="noStrike" cap="none">
                <a:solidFill>
                  <a:srgbClr val="051D3A"/>
                </a:solidFill>
                <a:latin typeface="Times New Roman"/>
                <a:ea typeface="Times New Roman"/>
                <a:cs typeface="Times New Roman"/>
                <a:sym typeface="Times New Roman"/>
              </a:rPr>
              <a:t> </a:t>
            </a:r>
            <a:r>
              <a:rPr lang="en-US" sz="2400" b="1">
                <a:sym typeface="Times New Roman"/>
              </a:rPr>
              <a:t>component Used -</a:t>
            </a:r>
            <a:endParaRPr sz="2400" b="1">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pic>
        <p:nvPicPr>
          <p:cNvPr id="4" name="Picture 3">
            <a:extLst>
              <a:ext uri="{FF2B5EF4-FFF2-40B4-BE49-F238E27FC236}">
                <a16:creationId xmlns:a16="http://schemas.microsoft.com/office/drawing/2014/main" id="{AB0231AA-8EDD-4D5D-2C45-D9B146982A40}"/>
              </a:ext>
            </a:extLst>
          </p:cNvPr>
          <p:cNvPicPr>
            <a:picLocks noChangeAspect="1"/>
          </p:cNvPicPr>
          <p:nvPr/>
        </p:nvPicPr>
        <p:blipFill>
          <a:blip r:embed="rId3"/>
          <a:stretch>
            <a:fillRect/>
          </a:stretch>
        </p:blipFill>
        <p:spPr>
          <a:xfrm>
            <a:off x="792035" y="863187"/>
            <a:ext cx="10607930" cy="5671574"/>
          </a:xfrm>
          <a:prstGeom prst="rect">
            <a:avLst/>
          </a:prstGeom>
        </p:spPr>
      </p:pic>
    </p:spTree>
    <p:extLst>
      <p:ext uri="{BB962C8B-B14F-4D97-AF65-F5344CB8AC3E}">
        <p14:creationId xmlns:p14="http://schemas.microsoft.com/office/powerpoint/2010/main" val="328526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err="1">
                <a:sym typeface="Times New Roman"/>
              </a:rPr>
              <a:t>Langflow</a:t>
            </a:r>
            <a:r>
              <a:rPr lang="en-US" sz="3500" b="1" i="0" u="none" strike="noStrike" cap="none">
                <a:solidFill>
                  <a:srgbClr val="051D3A"/>
                </a:solidFill>
                <a:latin typeface="Times New Roman"/>
                <a:ea typeface="Times New Roman"/>
                <a:cs typeface="Times New Roman"/>
                <a:sym typeface="Times New Roman"/>
              </a:rPr>
              <a:t> </a:t>
            </a:r>
            <a:r>
              <a:rPr lang="en-US" sz="2400" b="1">
                <a:sym typeface="Times New Roman"/>
              </a:rPr>
              <a:t>workflow -</a:t>
            </a:r>
            <a:endParaRPr sz="2400" b="1">
              <a:sym typeface="Times New Roman"/>
            </a:endParaRPr>
          </a:p>
        </p:txBody>
      </p:sp>
      <p:sp>
        <p:nvSpPr>
          <p:cNvPr id="5" name="TextBox 4">
            <a:extLst>
              <a:ext uri="{FF2B5EF4-FFF2-40B4-BE49-F238E27FC236}">
                <a16:creationId xmlns:a16="http://schemas.microsoft.com/office/drawing/2014/main" id="{7DDB7027-B9DD-FA89-4A7B-15D0A7F0B339}"/>
              </a:ext>
            </a:extLst>
          </p:cNvPr>
          <p:cNvSpPr txBox="1"/>
          <p:nvPr/>
        </p:nvSpPr>
        <p:spPr>
          <a:xfrm>
            <a:off x="3047215" y="-1354569"/>
            <a:ext cx="6094428" cy="307777"/>
          </a:xfrm>
          <a:prstGeom prst="rect">
            <a:avLst/>
          </a:prstGeom>
          <a:noFill/>
        </p:spPr>
        <p:txBody>
          <a:bodyPr wrap="square">
            <a:spAutoFit/>
          </a:bodyPr>
          <a:lstStyle/>
          <a:p>
            <a:endParaRPr lang="en-IN" dirty="0"/>
          </a:p>
        </p:txBody>
      </p:sp>
      <p:pic>
        <p:nvPicPr>
          <p:cNvPr id="7" name="Picture 6">
            <a:extLst>
              <a:ext uri="{FF2B5EF4-FFF2-40B4-BE49-F238E27FC236}">
                <a16:creationId xmlns:a16="http://schemas.microsoft.com/office/drawing/2014/main" id="{CAFA2170-7126-5C98-A9C6-39C6929552AE}"/>
              </a:ext>
            </a:extLst>
          </p:cNvPr>
          <p:cNvPicPr>
            <a:picLocks noChangeAspect="1"/>
          </p:cNvPicPr>
          <p:nvPr/>
        </p:nvPicPr>
        <p:blipFill>
          <a:blip r:embed="rId3"/>
          <a:stretch>
            <a:fillRect/>
          </a:stretch>
        </p:blipFill>
        <p:spPr>
          <a:xfrm>
            <a:off x="245097" y="952107"/>
            <a:ext cx="11708091" cy="5740924"/>
          </a:xfrm>
          <a:prstGeom prst="rect">
            <a:avLst/>
          </a:prstGeom>
        </p:spPr>
      </p:pic>
    </p:spTree>
    <p:extLst>
      <p:ext uri="{BB962C8B-B14F-4D97-AF65-F5344CB8AC3E}">
        <p14:creationId xmlns:p14="http://schemas.microsoft.com/office/powerpoint/2010/main" val="27725019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dirty="0">
                <a:solidFill>
                  <a:schemeClr val="dk1"/>
                </a:solidFill>
                <a:latin typeface="Calibri"/>
                <a:ea typeface="Calibri"/>
                <a:cs typeface="Calibri"/>
                <a:sym typeface="Calibri"/>
              </a:rPr>
              <a:t>Architecture blueprint</a:t>
            </a:r>
            <a:endParaRPr lang="en-US" sz="2400" dirty="0"/>
          </a:p>
        </p:txBody>
      </p:sp>
      <p:pic>
        <p:nvPicPr>
          <p:cNvPr id="5" name="Picture 4">
            <a:extLst>
              <a:ext uri="{FF2B5EF4-FFF2-40B4-BE49-F238E27FC236}">
                <a16:creationId xmlns:a16="http://schemas.microsoft.com/office/drawing/2014/main" id="{DB739794-A231-53FC-76B2-F7C3B965B2E5}"/>
              </a:ext>
            </a:extLst>
          </p:cNvPr>
          <p:cNvPicPr>
            <a:picLocks noChangeAspect="1"/>
          </p:cNvPicPr>
          <p:nvPr/>
        </p:nvPicPr>
        <p:blipFill>
          <a:blip r:embed="rId3"/>
          <a:stretch>
            <a:fillRect/>
          </a:stretch>
        </p:blipFill>
        <p:spPr>
          <a:xfrm>
            <a:off x="537591" y="771747"/>
            <a:ext cx="10679050" cy="5763014"/>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2" name="TextBox 1">
            <a:extLst>
              <a:ext uri="{FF2B5EF4-FFF2-40B4-BE49-F238E27FC236}">
                <a16:creationId xmlns:a16="http://schemas.microsoft.com/office/drawing/2014/main" id="{B84A7B44-8B20-5A39-ED43-DA98D0FC7976}"/>
              </a:ext>
            </a:extLst>
          </p:cNvPr>
          <p:cNvSpPr txBox="1"/>
          <p:nvPr/>
        </p:nvSpPr>
        <p:spPr>
          <a:xfrm>
            <a:off x="335280" y="293624"/>
            <a:ext cx="9457944" cy="584775"/>
          </a:xfrm>
          <a:prstGeom prst="rect">
            <a:avLst/>
          </a:prstGeom>
          <a:noFill/>
        </p:spPr>
        <p:txBody>
          <a:bodyPr wrap="square" rtlCol="0">
            <a:spAutoFit/>
          </a:bodyPr>
          <a:lstStyle/>
          <a:p>
            <a:r>
              <a:rPr lang="en-US" sz="3200" b="1" dirty="0"/>
              <a:t>Role of Agentic AI in the solution </a:t>
            </a:r>
            <a:endParaRPr lang="en-IN" sz="3200" b="1" dirty="0"/>
          </a:p>
        </p:txBody>
      </p:sp>
      <p:sp>
        <p:nvSpPr>
          <p:cNvPr id="3" name="TextBox 2">
            <a:extLst>
              <a:ext uri="{FF2B5EF4-FFF2-40B4-BE49-F238E27FC236}">
                <a16:creationId xmlns:a16="http://schemas.microsoft.com/office/drawing/2014/main" id="{322462E8-EB3A-DA7D-44CB-4E757803A755}"/>
              </a:ext>
            </a:extLst>
          </p:cNvPr>
          <p:cNvSpPr txBox="1"/>
          <p:nvPr/>
        </p:nvSpPr>
        <p:spPr>
          <a:xfrm>
            <a:off x="335280" y="1096112"/>
            <a:ext cx="7511458" cy="5724644"/>
          </a:xfrm>
          <a:prstGeom prst="rect">
            <a:avLst/>
          </a:prstGeom>
          <a:noFill/>
        </p:spPr>
        <p:txBody>
          <a:bodyPr wrap="square" rtlCol="0">
            <a:spAutoFit/>
          </a:bodyPr>
          <a:lstStyle/>
          <a:p>
            <a:pPr marL="342900" indent="-342900">
              <a:buAutoNum type="arabicPeriod"/>
            </a:pPr>
            <a:r>
              <a:rPr lang="en-IN" sz="1600" dirty="0"/>
              <a:t>🛠️ </a:t>
            </a:r>
            <a:r>
              <a:rPr lang="en-IN" sz="1600" b="1" dirty="0"/>
              <a:t>Tool-Using Agent</a:t>
            </a:r>
          </a:p>
          <a:p>
            <a:r>
              <a:rPr lang="en-IN" sz="1600" b="1" dirty="0"/>
              <a:t> Now:</a:t>
            </a:r>
            <a:r>
              <a:rPr lang="en-IN" sz="1600" dirty="0"/>
              <a:t> Granite only uses its training knowledge (may be outdated).</a:t>
            </a:r>
            <a:br>
              <a:rPr lang="en-IN" sz="1600" dirty="0"/>
            </a:br>
            <a:r>
              <a:rPr lang="en-IN" sz="1600" dirty="0"/>
              <a:t> </a:t>
            </a:r>
            <a:r>
              <a:rPr lang="en-IN" sz="1600" b="1" dirty="0"/>
              <a:t>Agentic:</a:t>
            </a:r>
            <a:r>
              <a:rPr lang="en-IN" sz="1600" dirty="0"/>
              <a:t> Granite calls real tools:</a:t>
            </a:r>
          </a:p>
          <a:p>
            <a:r>
              <a:rPr lang="en-IN" sz="1600" dirty="0"/>
              <a:t> search schemes(state, category) → live data from </a:t>
            </a:r>
            <a:r>
              <a:rPr lang="en-IN" sz="1600" b="1" dirty="0"/>
              <a:t>MyScheme.gov.in API</a:t>
            </a:r>
            <a:endParaRPr lang="en-IN" sz="1600" dirty="0"/>
          </a:p>
          <a:p>
            <a:r>
              <a:rPr lang="en-IN" sz="1600" dirty="0"/>
              <a:t> find courses(interest) → live results from </a:t>
            </a:r>
            <a:r>
              <a:rPr lang="en-IN" sz="1600" b="1" dirty="0"/>
              <a:t>SWAYAM API</a:t>
            </a:r>
            <a:endParaRPr lang="en-IN" sz="1600" dirty="0"/>
          </a:p>
          <a:p>
            <a:r>
              <a:rPr lang="en-IN" sz="1600" dirty="0"/>
              <a:t> check eligibility (user profile, scheme id) → real eligibility logic</a:t>
            </a:r>
          </a:p>
          <a:p>
            <a:r>
              <a:rPr lang="en-IN" sz="1600" dirty="0"/>
              <a:t>translate(text, lang) → real-time regional language support (Bhojpuri, Marathi, etc.)</a:t>
            </a:r>
          </a:p>
          <a:p>
            <a:r>
              <a:rPr lang="en-IN" sz="1600" dirty="0"/>
              <a:t>2.   🔄 </a:t>
            </a:r>
            <a:r>
              <a:rPr lang="en-IN" sz="1600" b="1" dirty="0"/>
              <a:t>Reflection &amp; Self-Correction Loop</a:t>
            </a:r>
          </a:p>
          <a:p>
            <a:r>
              <a:rPr lang="en-IN" sz="1600" b="1" dirty="0"/>
              <a:t> Now:</a:t>
            </a:r>
            <a:r>
              <a:rPr lang="en-IN" sz="1600" dirty="0"/>
              <a:t> One shot answer, no validation.</a:t>
            </a:r>
            <a:br>
              <a:rPr lang="en-IN" sz="1600" dirty="0"/>
            </a:br>
            <a:r>
              <a:rPr lang="en-IN" sz="1600" dirty="0"/>
              <a:t> </a:t>
            </a:r>
            <a:r>
              <a:rPr lang="en-IN" sz="1600" b="1" dirty="0"/>
              <a:t>Agentic:</a:t>
            </a:r>
            <a:r>
              <a:rPr lang="en-IN" sz="1600" dirty="0"/>
              <a:t> After generating career advice, the agent:</a:t>
            </a:r>
          </a:p>
          <a:p>
            <a:r>
              <a:rPr lang="en-IN" sz="1600" dirty="0"/>
              <a:t> Reviews its own answer ("Is this scheme still active?)</a:t>
            </a:r>
          </a:p>
          <a:p>
            <a:r>
              <a:rPr lang="en-IN" sz="1600" dirty="0"/>
              <a:t> Scores confidence — only sends high-confidence answers</a:t>
            </a:r>
          </a:p>
          <a:p>
            <a:r>
              <a:rPr lang="en-IN" sz="1600" dirty="0"/>
              <a:t>3.   📅 </a:t>
            </a:r>
            <a:r>
              <a:rPr lang="en-IN" sz="1600" b="1" dirty="0"/>
              <a:t>Proactive Follow-Up Agent</a:t>
            </a:r>
          </a:p>
          <a:p>
            <a:r>
              <a:rPr lang="en-IN" sz="1600" b="1" dirty="0"/>
              <a:t> Now:</a:t>
            </a:r>
            <a:r>
              <a:rPr lang="en-IN" sz="1600" dirty="0"/>
              <a:t> Stateless — every session starts fresh.</a:t>
            </a:r>
            <a:br>
              <a:rPr lang="en-IN" sz="1600" dirty="0"/>
            </a:br>
            <a:r>
              <a:rPr lang="en-IN" sz="1600" dirty="0"/>
              <a:t> </a:t>
            </a:r>
            <a:r>
              <a:rPr lang="en-IN" sz="1600" b="1" dirty="0"/>
              <a:t>Agentic:</a:t>
            </a:r>
            <a:r>
              <a:rPr lang="en-IN" sz="1600" dirty="0"/>
              <a:t> Agent stores user profile, checks in after 30 days: </a:t>
            </a:r>
            <a:r>
              <a:rPr lang="en-IN" sz="1600" i="1" dirty="0"/>
              <a:t>"Did you register for     PMKVY? Here's the nearest centre in your district."</a:t>
            </a:r>
            <a:endParaRPr lang="en-IN" sz="1600" dirty="0"/>
          </a:p>
          <a:p>
            <a:r>
              <a:rPr lang="en-IN" sz="1600" dirty="0"/>
              <a:t>4.   🌾 </a:t>
            </a:r>
            <a:r>
              <a:rPr lang="en-IN" sz="1600" b="1" dirty="0"/>
              <a:t>RAG Agent</a:t>
            </a:r>
          </a:p>
          <a:p>
            <a:r>
              <a:rPr lang="en-IN" sz="1600" b="1" dirty="0"/>
              <a:t> Now:</a:t>
            </a:r>
            <a:r>
              <a:rPr lang="en-IN" sz="1600" dirty="0"/>
              <a:t> Granite answers from training data only. </a:t>
            </a:r>
            <a:br>
              <a:rPr lang="en-IN" sz="1600" dirty="0"/>
            </a:br>
            <a:r>
              <a:rPr lang="en-IN" sz="1600" dirty="0"/>
              <a:t> </a:t>
            </a:r>
            <a:r>
              <a:rPr lang="en-IN" sz="1600" b="1" dirty="0"/>
              <a:t>Agentic with RAG:</a:t>
            </a:r>
            <a:endParaRPr lang="en-IN" sz="1600" dirty="0"/>
          </a:p>
          <a:p>
            <a:r>
              <a:rPr lang="en-IN" sz="1600" dirty="0"/>
              <a:t> User query--Agent retrieves from vector DB--(latest govt circulars, district-level data)--Granite generates grounded, updated answer--Agent cites source + date</a:t>
            </a:r>
          </a:p>
          <a:p>
            <a:endParaRPr lang="en-US" dirty="0"/>
          </a:p>
        </p:txBody>
      </p:sp>
      <p:pic>
        <p:nvPicPr>
          <p:cNvPr id="5" name="Picture 4">
            <a:extLst>
              <a:ext uri="{FF2B5EF4-FFF2-40B4-BE49-F238E27FC236}">
                <a16:creationId xmlns:a16="http://schemas.microsoft.com/office/drawing/2014/main" id="{9CC7B413-C77E-0134-05C5-C2CC6299DA4B}"/>
              </a:ext>
            </a:extLst>
          </p:cNvPr>
          <p:cNvPicPr>
            <a:picLocks noChangeAspect="1"/>
          </p:cNvPicPr>
          <p:nvPr/>
        </p:nvPicPr>
        <p:blipFill>
          <a:blip r:embed="rId3"/>
          <a:stretch>
            <a:fillRect/>
          </a:stretch>
        </p:blipFill>
        <p:spPr>
          <a:xfrm>
            <a:off x="7846738" y="480347"/>
            <a:ext cx="4159164" cy="589730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38E971F-42A0-5C07-2351-D5AC36A76B5C}"/>
              </a:ext>
            </a:extLst>
          </p:cNvPr>
          <p:cNvPicPr>
            <a:picLocks noChangeAspect="1"/>
          </p:cNvPicPr>
          <p:nvPr/>
        </p:nvPicPr>
        <p:blipFill>
          <a:blip r:embed="rId2"/>
          <a:stretch>
            <a:fillRect/>
          </a:stretch>
        </p:blipFill>
        <p:spPr>
          <a:xfrm>
            <a:off x="0" y="519471"/>
            <a:ext cx="12192000" cy="5819057"/>
          </a:xfrm>
          <a:prstGeom prst="rect">
            <a:avLst/>
          </a:prstGeom>
        </p:spPr>
      </p:pic>
    </p:spTree>
    <p:extLst>
      <p:ext uri="{BB962C8B-B14F-4D97-AF65-F5344CB8AC3E}">
        <p14:creationId xmlns:p14="http://schemas.microsoft.com/office/powerpoint/2010/main" val="10057114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521E296E-228E-A80A-9132-04A6443A9DC3}"/>
              </a:ext>
            </a:extLst>
          </p:cNvPr>
          <p:cNvPicPr>
            <a:picLocks noChangeAspect="1"/>
          </p:cNvPicPr>
          <p:nvPr/>
        </p:nvPicPr>
        <p:blipFill>
          <a:blip r:embed="rId2"/>
          <a:stretch>
            <a:fillRect/>
          </a:stretch>
        </p:blipFill>
        <p:spPr>
          <a:xfrm>
            <a:off x="1298028" y="420414"/>
            <a:ext cx="9595944" cy="5854262"/>
          </a:xfrm>
          <a:prstGeom prst="rect">
            <a:avLst/>
          </a:prstGeom>
        </p:spPr>
      </p:pic>
    </p:spTree>
    <p:extLst>
      <p:ext uri="{BB962C8B-B14F-4D97-AF65-F5344CB8AC3E}">
        <p14:creationId xmlns:p14="http://schemas.microsoft.com/office/powerpoint/2010/main" val="10336908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3847C3D-954E-CEBB-E18E-6DB7299D6A34}"/>
              </a:ext>
            </a:extLst>
          </p:cNvPr>
          <p:cNvPicPr>
            <a:picLocks noChangeAspect="1"/>
          </p:cNvPicPr>
          <p:nvPr/>
        </p:nvPicPr>
        <p:blipFill>
          <a:blip r:embed="rId2"/>
          <a:stretch>
            <a:fillRect/>
          </a:stretch>
        </p:blipFill>
        <p:spPr>
          <a:xfrm>
            <a:off x="1156138" y="273269"/>
            <a:ext cx="9417269" cy="6064469"/>
          </a:xfrm>
          <a:prstGeom prst="rect">
            <a:avLst/>
          </a:prstGeom>
        </p:spPr>
      </p:pic>
    </p:spTree>
    <p:extLst>
      <p:ext uri="{BB962C8B-B14F-4D97-AF65-F5344CB8AC3E}">
        <p14:creationId xmlns:p14="http://schemas.microsoft.com/office/powerpoint/2010/main" val="41602854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793192" y="3415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Token Usage </a:t>
            </a:r>
            <a:endParaRPr sz="2400" b="1">
              <a:sym typeface="Times New Roman"/>
            </a:endParaRPr>
          </a:p>
        </p:txBody>
      </p:sp>
      <p:sp>
        <p:nvSpPr>
          <p:cNvPr id="280" name="Google Shape;280;p18">
            <a:extLst>
              <a:ext uri="{FF2B5EF4-FFF2-40B4-BE49-F238E27FC236}">
                <a16:creationId xmlns:a16="http://schemas.microsoft.com/office/drawing/2014/main"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5" name="TextBox 4">
            <a:extLst>
              <a:ext uri="{FF2B5EF4-FFF2-40B4-BE49-F238E27FC236}">
                <a16:creationId xmlns:a16="http://schemas.microsoft.com/office/drawing/2014/main" id="{1BD576A0-BF64-32B6-1E59-49AA2C59C5CE}"/>
              </a:ext>
            </a:extLst>
          </p:cNvPr>
          <p:cNvSpPr txBox="1"/>
          <p:nvPr/>
        </p:nvSpPr>
        <p:spPr>
          <a:xfrm>
            <a:off x="897392" y="1042133"/>
            <a:ext cx="4371171"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 1531 tokens are used</a:t>
            </a:r>
          </a:p>
        </p:txBody>
      </p:sp>
      <p:sp>
        <p:nvSpPr>
          <p:cNvPr id="14" name="TextBox 13">
            <a:extLst>
              <a:ext uri="{FF2B5EF4-FFF2-40B4-BE49-F238E27FC236}">
                <a16:creationId xmlns:a16="http://schemas.microsoft.com/office/drawing/2014/main" id="{7B8E599E-5B1D-59CD-4F1D-CEF8D0CA327B}"/>
              </a:ext>
            </a:extLst>
          </p:cNvPr>
          <p:cNvSpPr txBox="1"/>
          <p:nvPr/>
        </p:nvSpPr>
        <p:spPr>
          <a:xfrm>
            <a:off x="1278639" y="1718067"/>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u="sng"/>
              <a:t>Before Prompt</a:t>
            </a:r>
          </a:p>
        </p:txBody>
      </p:sp>
      <p:sp>
        <p:nvSpPr>
          <p:cNvPr id="15" name="TextBox 14">
            <a:extLst>
              <a:ext uri="{FF2B5EF4-FFF2-40B4-BE49-F238E27FC236}">
                <a16:creationId xmlns:a16="http://schemas.microsoft.com/office/drawing/2014/main" id="{B22EA981-5113-2D05-C1A2-169306E1D47C}"/>
              </a:ext>
            </a:extLst>
          </p:cNvPr>
          <p:cNvSpPr txBox="1"/>
          <p:nvPr/>
        </p:nvSpPr>
        <p:spPr>
          <a:xfrm>
            <a:off x="7106828" y="1722919"/>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u="sng"/>
              <a:t>After the Prompt</a:t>
            </a:r>
          </a:p>
        </p:txBody>
      </p:sp>
      <p:pic>
        <p:nvPicPr>
          <p:cNvPr id="3" name="Picture 2">
            <a:extLst>
              <a:ext uri="{FF2B5EF4-FFF2-40B4-BE49-F238E27FC236}">
                <a16:creationId xmlns:a16="http://schemas.microsoft.com/office/drawing/2014/main" id="{78263BA6-BD08-4A49-041E-730C483CABA3}"/>
              </a:ext>
            </a:extLst>
          </p:cNvPr>
          <p:cNvPicPr>
            <a:picLocks noChangeAspect="1"/>
          </p:cNvPicPr>
          <p:nvPr/>
        </p:nvPicPr>
        <p:blipFill>
          <a:blip r:embed="rId3"/>
          <a:stretch>
            <a:fillRect/>
          </a:stretch>
        </p:blipFill>
        <p:spPr>
          <a:xfrm>
            <a:off x="6096000" y="2332677"/>
            <a:ext cx="5994400" cy="3289548"/>
          </a:xfrm>
          <a:prstGeom prst="rect">
            <a:avLst/>
          </a:prstGeom>
        </p:spPr>
      </p:pic>
      <p:pic>
        <p:nvPicPr>
          <p:cNvPr id="6" name="Picture 5">
            <a:extLst>
              <a:ext uri="{FF2B5EF4-FFF2-40B4-BE49-F238E27FC236}">
                <a16:creationId xmlns:a16="http://schemas.microsoft.com/office/drawing/2014/main" id="{F80904F0-AAE7-2F2A-9B3A-F128463ED2D2}"/>
              </a:ext>
            </a:extLst>
          </p:cNvPr>
          <p:cNvPicPr>
            <a:picLocks noChangeAspect="1"/>
          </p:cNvPicPr>
          <p:nvPr/>
        </p:nvPicPr>
        <p:blipFill>
          <a:blip r:embed="rId4"/>
          <a:stretch>
            <a:fillRect/>
          </a:stretch>
        </p:blipFill>
        <p:spPr>
          <a:xfrm>
            <a:off x="0" y="2332677"/>
            <a:ext cx="5948203" cy="3289548"/>
          </a:xfrm>
          <a:prstGeom prst="rect">
            <a:avLst/>
          </a:prstGeom>
        </p:spPr>
      </p:pic>
    </p:spTree>
    <p:extLst>
      <p:ext uri="{BB962C8B-B14F-4D97-AF65-F5344CB8AC3E}">
        <p14:creationId xmlns:p14="http://schemas.microsoft.com/office/powerpoint/2010/main" val="21154848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dirty="0"/>
              <a:t>Novelty and Uniqueness</a:t>
            </a:r>
            <a:endParaRPr lang="en-IN" sz="2400" b="1" dirty="0"/>
          </a:p>
        </p:txBody>
      </p:sp>
      <p:sp>
        <p:nvSpPr>
          <p:cNvPr id="5" name="TextBox 4">
            <a:extLst>
              <a:ext uri="{FF2B5EF4-FFF2-40B4-BE49-F238E27FC236}">
                <a16:creationId xmlns:a16="http://schemas.microsoft.com/office/drawing/2014/main" id="{37BE0ABC-5193-3744-3C43-AECA8281A4D3}"/>
              </a:ext>
            </a:extLst>
          </p:cNvPr>
          <p:cNvSpPr txBox="1"/>
          <p:nvPr/>
        </p:nvSpPr>
        <p:spPr>
          <a:xfrm>
            <a:off x="777240" y="1249105"/>
            <a:ext cx="6096000" cy="1938992"/>
          </a:xfrm>
          <a:prstGeom prst="rect">
            <a:avLst/>
          </a:prstGeom>
          <a:noFill/>
        </p:spPr>
        <p:txBody>
          <a:bodyPr wrap="square">
            <a:spAutoFit/>
          </a:bodyPr>
          <a:lstStyle/>
          <a:p>
            <a:r>
              <a:rPr lang="en-IN" sz="2000" i="0" dirty="0" err="1">
                <a:solidFill>
                  <a:schemeClr val="tx1"/>
                </a:solidFill>
                <a:effectLst/>
                <a:latin typeface="Segoe WPC"/>
              </a:rPr>
              <a:t>DiशाBot</a:t>
            </a:r>
            <a:r>
              <a:rPr lang="en-IN" sz="2000" i="0" dirty="0">
                <a:solidFill>
                  <a:schemeClr val="tx1"/>
                </a:solidFill>
                <a:effectLst/>
                <a:latin typeface="Segoe WPC"/>
              </a:rPr>
              <a:t> is the only tool that combines IBM-grade AI reasoning, deep knowledge of Indian government schemes, bilingual delivery, and a zero-friction browser interface — purpose-built for the 500 million rural Indians who have never had access to a single career counsellor in their life.</a:t>
            </a:r>
            <a:endParaRPr lang="en-IN" sz="2000" dirty="0">
              <a:solidFill>
                <a:schemeClr val="tx1"/>
              </a:solidFill>
            </a:endParaRPr>
          </a:p>
        </p:txBody>
      </p:sp>
      <p:graphicFrame>
        <p:nvGraphicFramePr>
          <p:cNvPr id="6" name="Table 5">
            <a:extLst>
              <a:ext uri="{FF2B5EF4-FFF2-40B4-BE49-F238E27FC236}">
                <a16:creationId xmlns:a16="http://schemas.microsoft.com/office/drawing/2014/main" id="{4C6EAC65-25E7-20A7-D371-534B38198635}"/>
              </a:ext>
            </a:extLst>
          </p:cNvPr>
          <p:cNvGraphicFramePr>
            <a:graphicFrameLocks noGrp="1"/>
          </p:cNvGraphicFramePr>
          <p:nvPr>
            <p:extLst>
              <p:ext uri="{D42A27DB-BD31-4B8C-83A1-F6EECF244321}">
                <p14:modId xmlns:p14="http://schemas.microsoft.com/office/powerpoint/2010/main" val="1833692574"/>
              </p:ext>
            </p:extLst>
          </p:nvPr>
        </p:nvGraphicFramePr>
        <p:xfrm>
          <a:off x="838200" y="3281679"/>
          <a:ext cx="10515600" cy="2743200"/>
        </p:xfrm>
        <a:graphic>
          <a:graphicData uri="http://schemas.openxmlformats.org/drawingml/2006/table">
            <a:tbl>
              <a:tblPr/>
              <a:tblGrid>
                <a:gridCol w="5257800">
                  <a:extLst>
                    <a:ext uri="{9D8B030D-6E8A-4147-A177-3AD203B41FA5}">
                      <a16:colId xmlns:a16="http://schemas.microsoft.com/office/drawing/2014/main" val="1461586199"/>
                    </a:ext>
                  </a:extLst>
                </a:gridCol>
                <a:gridCol w="5257800">
                  <a:extLst>
                    <a:ext uri="{9D8B030D-6E8A-4147-A177-3AD203B41FA5}">
                      <a16:colId xmlns:a16="http://schemas.microsoft.com/office/drawing/2014/main" val="1291416105"/>
                    </a:ext>
                  </a:extLst>
                </a:gridCol>
              </a:tblGrid>
              <a:tr h="288431">
                <a:tc>
                  <a:txBody>
                    <a:bodyPr/>
                    <a:lstStyle/>
                    <a:p>
                      <a:pPr algn="l">
                        <a:buNone/>
                      </a:pPr>
                      <a:r>
                        <a:rPr lang="en-IN" b="1">
                          <a:solidFill>
                            <a:srgbClr val="BFBFBF"/>
                          </a:solidFill>
                          <a:effectLst/>
                        </a:rPr>
                        <a:t>Metric</a:t>
                      </a:r>
                    </a:p>
                  </a:txBody>
                  <a:tcPr anchor="ctr">
                    <a:lnL w="6096" cap="flat" cmpd="sng" algn="ctr">
                      <a:solidFill>
                        <a:srgbClr val="2A2B2C"/>
                      </a:solidFill>
                      <a:prstDash val="solid"/>
                      <a:round/>
                      <a:headEnd type="none" w="med" len="med"/>
                      <a:tailEnd type="none" w="med" len="med"/>
                    </a:lnL>
                    <a:lnR w="6096" cap="flat" cmpd="sng" algn="ctr">
                      <a:solidFill>
                        <a:srgbClr val="2A2B2C"/>
                      </a:solidFill>
                      <a:prstDash val="solid"/>
                      <a:round/>
                      <a:headEnd type="none" w="med" len="med"/>
                      <a:tailEnd type="none" w="med" len="med"/>
                    </a:lnR>
                    <a:lnT w="6096" cap="flat" cmpd="sng" algn="ctr">
                      <a:solidFill>
                        <a:srgbClr val="2A2B2C"/>
                      </a:solidFill>
                      <a:prstDash val="solid"/>
                      <a:round/>
                      <a:headEnd type="none" w="med" len="med"/>
                      <a:tailEnd type="none" w="med" len="med"/>
                    </a:lnT>
                    <a:lnB w="6096" cap="flat" cmpd="sng" algn="ctr">
                      <a:solidFill>
                        <a:srgbClr val="2A2B2C"/>
                      </a:solidFill>
                      <a:prstDash val="solid"/>
                      <a:round/>
                      <a:headEnd type="none" w="med" len="med"/>
                      <a:tailEnd type="none" w="med" len="med"/>
                    </a:lnB>
                    <a:solidFill>
                      <a:srgbClr val="121314"/>
                    </a:solidFill>
                  </a:tcPr>
                </a:tc>
                <a:tc>
                  <a:txBody>
                    <a:bodyPr/>
                    <a:lstStyle/>
                    <a:p>
                      <a:pPr algn="l">
                        <a:buNone/>
                      </a:pPr>
                      <a:r>
                        <a:rPr lang="en-IN" b="1">
                          <a:solidFill>
                            <a:srgbClr val="BFBFBF"/>
                          </a:solidFill>
                          <a:effectLst/>
                        </a:rPr>
                        <a:t>Value</a:t>
                      </a:r>
                    </a:p>
                  </a:txBody>
                  <a:tcPr anchor="ctr">
                    <a:lnL w="6096" cap="flat" cmpd="sng" algn="ctr">
                      <a:solidFill>
                        <a:srgbClr val="2A2B2C"/>
                      </a:solidFill>
                      <a:prstDash val="solid"/>
                      <a:round/>
                      <a:headEnd type="none" w="med" len="med"/>
                      <a:tailEnd type="none" w="med" len="med"/>
                    </a:lnL>
                    <a:lnR w="6096" cap="flat" cmpd="sng" algn="ctr">
                      <a:solidFill>
                        <a:srgbClr val="2A2B2C"/>
                      </a:solidFill>
                      <a:prstDash val="solid"/>
                      <a:round/>
                      <a:headEnd type="none" w="med" len="med"/>
                      <a:tailEnd type="none" w="med" len="med"/>
                    </a:lnR>
                    <a:lnT w="6096" cap="flat" cmpd="sng" algn="ctr">
                      <a:solidFill>
                        <a:srgbClr val="2A2B2C"/>
                      </a:solidFill>
                      <a:prstDash val="solid"/>
                      <a:round/>
                      <a:headEnd type="none" w="med" len="med"/>
                      <a:tailEnd type="none" w="med" len="med"/>
                    </a:lnT>
                    <a:lnB w="6096" cap="flat" cmpd="sng" algn="ctr">
                      <a:solidFill>
                        <a:srgbClr val="2A2B2C"/>
                      </a:solidFill>
                      <a:prstDash val="solid"/>
                      <a:round/>
                      <a:headEnd type="none" w="med" len="med"/>
                      <a:tailEnd type="none" w="med" len="med"/>
                    </a:lnB>
                    <a:solidFill>
                      <a:srgbClr val="121314"/>
                    </a:solidFill>
                  </a:tcPr>
                </a:tc>
                <a:extLst>
                  <a:ext uri="{0D108BD9-81ED-4DB2-BD59-A6C34878D82A}">
                    <a16:rowId xmlns:a16="http://schemas.microsoft.com/office/drawing/2014/main" val="1887025256"/>
                  </a:ext>
                </a:extLst>
              </a:tr>
              <a:tr h="288431">
                <a:tc>
                  <a:txBody>
                    <a:bodyPr/>
                    <a:lstStyle/>
                    <a:p>
                      <a:pPr algn="l">
                        <a:buNone/>
                      </a:pPr>
                      <a:r>
                        <a:rPr lang="en-IN" b="0">
                          <a:effectLst/>
                        </a:rPr>
                        <a:t>Rural youth aged 15–30 in India</a:t>
                      </a:r>
                    </a:p>
                  </a:txBody>
                  <a:tcPr anchor="ctr">
                    <a:lnL w="6096" cap="flat" cmpd="sng" algn="ctr">
                      <a:solidFill>
                        <a:srgbClr val="2A2B2C"/>
                      </a:solidFill>
                      <a:prstDash val="solid"/>
                      <a:round/>
                      <a:headEnd type="none" w="med" len="med"/>
                      <a:tailEnd type="none" w="med" len="med"/>
                    </a:lnL>
                    <a:lnR w="6096" cap="flat" cmpd="sng" algn="ctr">
                      <a:solidFill>
                        <a:srgbClr val="2A2B2C"/>
                      </a:solidFill>
                      <a:prstDash val="solid"/>
                      <a:round/>
                      <a:headEnd type="none" w="med" len="med"/>
                      <a:tailEnd type="none" w="med" len="med"/>
                    </a:lnR>
                    <a:lnT w="6096" cap="flat" cmpd="sng" algn="ctr">
                      <a:solidFill>
                        <a:srgbClr val="2A2B2C"/>
                      </a:solidFill>
                      <a:prstDash val="solid"/>
                      <a:round/>
                      <a:headEnd type="none" w="med" len="med"/>
                      <a:tailEnd type="none" w="med" len="med"/>
                    </a:lnT>
                    <a:lnB w="6096" cap="flat" cmpd="sng" algn="ctr">
                      <a:solidFill>
                        <a:srgbClr val="2A2B2C"/>
                      </a:solidFill>
                      <a:prstDash val="solid"/>
                      <a:round/>
                      <a:headEnd type="none" w="med" len="med"/>
                      <a:tailEnd type="none" w="med" len="med"/>
                    </a:lnB>
                    <a:noFill/>
                  </a:tcPr>
                </a:tc>
                <a:tc>
                  <a:txBody>
                    <a:bodyPr/>
                    <a:lstStyle/>
                    <a:p>
                      <a:pPr algn="l">
                        <a:buNone/>
                      </a:pPr>
                      <a:r>
                        <a:rPr lang="en-IN" b="1">
                          <a:effectLst/>
                        </a:rPr>
                        <a:t>~250 million</a:t>
                      </a:r>
                      <a:endParaRPr lang="en-IN" b="0">
                        <a:effectLst/>
                      </a:endParaRPr>
                    </a:p>
                  </a:txBody>
                  <a:tcPr anchor="ctr">
                    <a:lnL w="6096" cap="flat" cmpd="sng" algn="ctr">
                      <a:solidFill>
                        <a:srgbClr val="2A2B2C"/>
                      </a:solidFill>
                      <a:prstDash val="solid"/>
                      <a:round/>
                      <a:headEnd type="none" w="med" len="med"/>
                      <a:tailEnd type="none" w="med" len="med"/>
                    </a:lnL>
                    <a:lnR w="6096" cap="flat" cmpd="sng" algn="ctr">
                      <a:solidFill>
                        <a:srgbClr val="2A2B2C"/>
                      </a:solidFill>
                      <a:prstDash val="solid"/>
                      <a:round/>
                      <a:headEnd type="none" w="med" len="med"/>
                      <a:tailEnd type="none" w="med" len="med"/>
                    </a:lnR>
                    <a:lnT w="6096" cap="flat" cmpd="sng" algn="ctr">
                      <a:solidFill>
                        <a:srgbClr val="2A2B2C"/>
                      </a:solidFill>
                      <a:prstDash val="solid"/>
                      <a:round/>
                      <a:headEnd type="none" w="med" len="med"/>
                      <a:tailEnd type="none" w="med" len="med"/>
                    </a:lnT>
                    <a:lnB w="6096" cap="flat" cmpd="sng" algn="ctr">
                      <a:solidFill>
                        <a:srgbClr val="2A2B2C"/>
                      </a:solidFill>
                      <a:prstDash val="solid"/>
                      <a:round/>
                      <a:headEnd type="none" w="med" len="med"/>
                      <a:tailEnd type="none" w="med" len="med"/>
                    </a:lnB>
                    <a:noFill/>
                  </a:tcPr>
                </a:tc>
                <a:extLst>
                  <a:ext uri="{0D108BD9-81ED-4DB2-BD59-A6C34878D82A}">
                    <a16:rowId xmlns:a16="http://schemas.microsoft.com/office/drawing/2014/main" val="1008455196"/>
                  </a:ext>
                </a:extLst>
              </a:tr>
              <a:tr h="288431">
                <a:tc>
                  <a:txBody>
                    <a:bodyPr/>
                    <a:lstStyle/>
                    <a:p>
                      <a:pPr algn="l">
                        <a:buNone/>
                      </a:pPr>
                      <a:r>
                        <a:rPr lang="en-IN" b="0">
                          <a:effectLst/>
                        </a:rPr>
                        <a:t>Currently with access to career counseling</a:t>
                      </a:r>
                    </a:p>
                  </a:txBody>
                  <a:tcPr anchor="ctr">
                    <a:lnL w="6096" cap="flat" cmpd="sng" algn="ctr">
                      <a:solidFill>
                        <a:srgbClr val="2A2B2C"/>
                      </a:solidFill>
                      <a:prstDash val="solid"/>
                      <a:round/>
                      <a:headEnd type="none" w="med" len="med"/>
                      <a:tailEnd type="none" w="med" len="med"/>
                    </a:lnL>
                    <a:lnR w="6096" cap="flat" cmpd="sng" algn="ctr">
                      <a:solidFill>
                        <a:srgbClr val="2A2B2C"/>
                      </a:solidFill>
                      <a:prstDash val="solid"/>
                      <a:round/>
                      <a:headEnd type="none" w="med" len="med"/>
                      <a:tailEnd type="none" w="med" len="med"/>
                    </a:lnR>
                    <a:lnT w="6096" cap="flat" cmpd="sng" algn="ctr">
                      <a:solidFill>
                        <a:srgbClr val="2A2B2C"/>
                      </a:solidFill>
                      <a:prstDash val="solid"/>
                      <a:round/>
                      <a:headEnd type="none" w="med" len="med"/>
                      <a:tailEnd type="none" w="med" len="med"/>
                    </a:lnT>
                    <a:lnB w="6096" cap="flat" cmpd="sng" algn="ctr">
                      <a:solidFill>
                        <a:srgbClr val="2A2B2C"/>
                      </a:solidFill>
                      <a:prstDash val="solid"/>
                      <a:round/>
                      <a:headEnd type="none" w="med" len="med"/>
                      <a:tailEnd type="none" w="med" len="med"/>
                    </a:lnB>
                    <a:noFill/>
                  </a:tcPr>
                </a:tc>
                <a:tc>
                  <a:txBody>
                    <a:bodyPr/>
                    <a:lstStyle/>
                    <a:p>
                      <a:pPr algn="l">
                        <a:buNone/>
                      </a:pPr>
                      <a:r>
                        <a:rPr lang="en-IN" b="1">
                          <a:effectLst/>
                        </a:rPr>
                        <a:t>&lt; 5%</a:t>
                      </a:r>
                      <a:endParaRPr lang="en-IN" b="0">
                        <a:effectLst/>
                      </a:endParaRPr>
                    </a:p>
                  </a:txBody>
                  <a:tcPr anchor="ctr">
                    <a:lnL w="6096" cap="flat" cmpd="sng" algn="ctr">
                      <a:solidFill>
                        <a:srgbClr val="2A2B2C"/>
                      </a:solidFill>
                      <a:prstDash val="solid"/>
                      <a:round/>
                      <a:headEnd type="none" w="med" len="med"/>
                      <a:tailEnd type="none" w="med" len="med"/>
                    </a:lnL>
                    <a:lnR w="6096" cap="flat" cmpd="sng" algn="ctr">
                      <a:solidFill>
                        <a:srgbClr val="2A2B2C"/>
                      </a:solidFill>
                      <a:prstDash val="solid"/>
                      <a:round/>
                      <a:headEnd type="none" w="med" len="med"/>
                      <a:tailEnd type="none" w="med" len="med"/>
                    </a:lnR>
                    <a:lnT w="6096" cap="flat" cmpd="sng" algn="ctr">
                      <a:solidFill>
                        <a:srgbClr val="2A2B2C"/>
                      </a:solidFill>
                      <a:prstDash val="solid"/>
                      <a:round/>
                      <a:headEnd type="none" w="med" len="med"/>
                      <a:tailEnd type="none" w="med" len="med"/>
                    </a:lnT>
                    <a:lnB w="6096" cap="flat" cmpd="sng" algn="ctr">
                      <a:solidFill>
                        <a:srgbClr val="2A2B2C"/>
                      </a:solidFill>
                      <a:prstDash val="solid"/>
                      <a:round/>
                      <a:headEnd type="none" w="med" len="med"/>
                      <a:tailEnd type="none" w="med" len="med"/>
                    </a:lnB>
                    <a:noFill/>
                  </a:tcPr>
                </a:tc>
                <a:extLst>
                  <a:ext uri="{0D108BD9-81ED-4DB2-BD59-A6C34878D82A}">
                    <a16:rowId xmlns:a16="http://schemas.microsoft.com/office/drawing/2014/main" val="371617039"/>
                  </a:ext>
                </a:extLst>
              </a:tr>
              <a:tr h="288431">
                <a:tc>
                  <a:txBody>
                    <a:bodyPr/>
                    <a:lstStyle/>
                    <a:p>
                      <a:pPr algn="l">
                        <a:buNone/>
                      </a:pPr>
                      <a:r>
                        <a:rPr lang="en-IN" b="0">
                          <a:effectLst/>
                        </a:rPr>
                        <a:t>States covered by Di</a:t>
                      </a:r>
                      <a:r>
                        <a:rPr lang="hi-IN" b="0">
                          <a:effectLst/>
                        </a:rPr>
                        <a:t>शा</a:t>
                      </a:r>
                      <a:r>
                        <a:rPr lang="en-IN" b="0">
                          <a:effectLst/>
                        </a:rPr>
                        <a:t>Bot</a:t>
                      </a:r>
                    </a:p>
                  </a:txBody>
                  <a:tcPr anchor="ctr">
                    <a:lnL w="6096" cap="flat" cmpd="sng" algn="ctr">
                      <a:solidFill>
                        <a:srgbClr val="2A2B2C"/>
                      </a:solidFill>
                      <a:prstDash val="solid"/>
                      <a:round/>
                      <a:headEnd type="none" w="med" len="med"/>
                      <a:tailEnd type="none" w="med" len="med"/>
                    </a:lnL>
                    <a:lnR w="6096" cap="flat" cmpd="sng" algn="ctr">
                      <a:solidFill>
                        <a:srgbClr val="2A2B2C"/>
                      </a:solidFill>
                      <a:prstDash val="solid"/>
                      <a:round/>
                      <a:headEnd type="none" w="med" len="med"/>
                      <a:tailEnd type="none" w="med" len="med"/>
                    </a:lnR>
                    <a:lnT w="6096" cap="flat" cmpd="sng" algn="ctr">
                      <a:solidFill>
                        <a:srgbClr val="2A2B2C"/>
                      </a:solidFill>
                      <a:prstDash val="solid"/>
                      <a:round/>
                      <a:headEnd type="none" w="med" len="med"/>
                      <a:tailEnd type="none" w="med" len="med"/>
                    </a:lnT>
                    <a:lnB w="6096" cap="flat" cmpd="sng" algn="ctr">
                      <a:solidFill>
                        <a:srgbClr val="2A2B2C"/>
                      </a:solidFill>
                      <a:prstDash val="solid"/>
                      <a:round/>
                      <a:headEnd type="none" w="med" len="med"/>
                      <a:tailEnd type="none" w="med" len="med"/>
                    </a:lnB>
                    <a:noFill/>
                  </a:tcPr>
                </a:tc>
                <a:tc>
                  <a:txBody>
                    <a:bodyPr/>
                    <a:lstStyle/>
                    <a:p>
                      <a:pPr algn="l">
                        <a:buNone/>
                      </a:pPr>
                      <a:r>
                        <a:rPr lang="en-IN" b="1">
                          <a:effectLst/>
                        </a:rPr>
                        <a:t>20</a:t>
                      </a:r>
                      <a:endParaRPr lang="en-IN" b="0">
                        <a:effectLst/>
                      </a:endParaRPr>
                    </a:p>
                  </a:txBody>
                  <a:tcPr anchor="ctr">
                    <a:lnL w="6096" cap="flat" cmpd="sng" algn="ctr">
                      <a:solidFill>
                        <a:srgbClr val="2A2B2C"/>
                      </a:solidFill>
                      <a:prstDash val="solid"/>
                      <a:round/>
                      <a:headEnd type="none" w="med" len="med"/>
                      <a:tailEnd type="none" w="med" len="med"/>
                    </a:lnL>
                    <a:lnR w="6096" cap="flat" cmpd="sng" algn="ctr">
                      <a:solidFill>
                        <a:srgbClr val="2A2B2C"/>
                      </a:solidFill>
                      <a:prstDash val="solid"/>
                      <a:round/>
                      <a:headEnd type="none" w="med" len="med"/>
                      <a:tailEnd type="none" w="med" len="med"/>
                    </a:lnR>
                    <a:lnT w="6096" cap="flat" cmpd="sng" algn="ctr">
                      <a:solidFill>
                        <a:srgbClr val="2A2B2C"/>
                      </a:solidFill>
                      <a:prstDash val="solid"/>
                      <a:round/>
                      <a:headEnd type="none" w="med" len="med"/>
                      <a:tailEnd type="none" w="med" len="med"/>
                    </a:lnT>
                    <a:lnB w="6096" cap="flat" cmpd="sng" algn="ctr">
                      <a:solidFill>
                        <a:srgbClr val="2A2B2C"/>
                      </a:solidFill>
                      <a:prstDash val="solid"/>
                      <a:round/>
                      <a:headEnd type="none" w="med" len="med"/>
                      <a:tailEnd type="none" w="med" len="med"/>
                    </a:lnB>
                    <a:noFill/>
                  </a:tcPr>
                </a:tc>
                <a:extLst>
                  <a:ext uri="{0D108BD9-81ED-4DB2-BD59-A6C34878D82A}">
                    <a16:rowId xmlns:a16="http://schemas.microsoft.com/office/drawing/2014/main" val="1171830934"/>
                  </a:ext>
                </a:extLst>
              </a:tr>
              <a:tr h="288431">
                <a:tc>
                  <a:txBody>
                    <a:bodyPr/>
                    <a:lstStyle/>
                    <a:p>
                      <a:pPr algn="l">
                        <a:buNone/>
                      </a:pPr>
                      <a:r>
                        <a:rPr lang="en-IN" b="0">
                          <a:effectLst/>
                        </a:rPr>
                        <a:t>Government schemes integrated</a:t>
                      </a:r>
                    </a:p>
                  </a:txBody>
                  <a:tcPr anchor="ctr">
                    <a:lnL w="6096" cap="flat" cmpd="sng" algn="ctr">
                      <a:solidFill>
                        <a:srgbClr val="2A2B2C"/>
                      </a:solidFill>
                      <a:prstDash val="solid"/>
                      <a:round/>
                      <a:headEnd type="none" w="med" len="med"/>
                      <a:tailEnd type="none" w="med" len="med"/>
                    </a:lnL>
                    <a:lnR w="6096" cap="flat" cmpd="sng" algn="ctr">
                      <a:solidFill>
                        <a:srgbClr val="2A2B2C"/>
                      </a:solidFill>
                      <a:prstDash val="solid"/>
                      <a:round/>
                      <a:headEnd type="none" w="med" len="med"/>
                      <a:tailEnd type="none" w="med" len="med"/>
                    </a:lnR>
                    <a:lnT w="6096" cap="flat" cmpd="sng" algn="ctr">
                      <a:solidFill>
                        <a:srgbClr val="2A2B2C"/>
                      </a:solidFill>
                      <a:prstDash val="solid"/>
                      <a:round/>
                      <a:headEnd type="none" w="med" len="med"/>
                      <a:tailEnd type="none" w="med" len="med"/>
                    </a:lnT>
                    <a:lnB w="6096" cap="flat" cmpd="sng" algn="ctr">
                      <a:solidFill>
                        <a:srgbClr val="2A2B2C"/>
                      </a:solidFill>
                      <a:prstDash val="solid"/>
                      <a:round/>
                      <a:headEnd type="none" w="med" len="med"/>
                      <a:tailEnd type="none" w="med" len="med"/>
                    </a:lnB>
                    <a:noFill/>
                  </a:tcPr>
                </a:tc>
                <a:tc>
                  <a:txBody>
                    <a:bodyPr/>
                    <a:lstStyle/>
                    <a:p>
                      <a:pPr algn="l">
                        <a:buNone/>
                      </a:pPr>
                      <a:r>
                        <a:rPr lang="en-IN" b="1">
                          <a:effectLst/>
                        </a:rPr>
                        <a:t>12</a:t>
                      </a:r>
                      <a:endParaRPr lang="en-IN" b="0">
                        <a:effectLst/>
                      </a:endParaRPr>
                    </a:p>
                  </a:txBody>
                  <a:tcPr anchor="ctr">
                    <a:lnL w="6096" cap="flat" cmpd="sng" algn="ctr">
                      <a:solidFill>
                        <a:srgbClr val="2A2B2C"/>
                      </a:solidFill>
                      <a:prstDash val="solid"/>
                      <a:round/>
                      <a:headEnd type="none" w="med" len="med"/>
                      <a:tailEnd type="none" w="med" len="med"/>
                    </a:lnL>
                    <a:lnR w="6096" cap="flat" cmpd="sng" algn="ctr">
                      <a:solidFill>
                        <a:srgbClr val="2A2B2C"/>
                      </a:solidFill>
                      <a:prstDash val="solid"/>
                      <a:round/>
                      <a:headEnd type="none" w="med" len="med"/>
                      <a:tailEnd type="none" w="med" len="med"/>
                    </a:lnR>
                    <a:lnT w="6096" cap="flat" cmpd="sng" algn="ctr">
                      <a:solidFill>
                        <a:srgbClr val="2A2B2C"/>
                      </a:solidFill>
                      <a:prstDash val="solid"/>
                      <a:round/>
                      <a:headEnd type="none" w="med" len="med"/>
                      <a:tailEnd type="none" w="med" len="med"/>
                    </a:lnT>
                    <a:lnB w="6096" cap="flat" cmpd="sng" algn="ctr">
                      <a:solidFill>
                        <a:srgbClr val="2A2B2C"/>
                      </a:solidFill>
                      <a:prstDash val="solid"/>
                      <a:round/>
                      <a:headEnd type="none" w="med" len="med"/>
                      <a:tailEnd type="none" w="med" len="med"/>
                    </a:lnB>
                    <a:noFill/>
                  </a:tcPr>
                </a:tc>
                <a:extLst>
                  <a:ext uri="{0D108BD9-81ED-4DB2-BD59-A6C34878D82A}">
                    <a16:rowId xmlns:a16="http://schemas.microsoft.com/office/drawing/2014/main" val="1265628748"/>
                  </a:ext>
                </a:extLst>
              </a:tr>
              <a:tr h="288431">
                <a:tc>
                  <a:txBody>
                    <a:bodyPr/>
                    <a:lstStyle/>
                    <a:p>
                      <a:pPr algn="l">
                        <a:buNone/>
                      </a:pPr>
                      <a:r>
                        <a:rPr lang="en-IN" b="0">
                          <a:effectLst/>
                        </a:rPr>
                        <a:t>Free learning platforms linked</a:t>
                      </a:r>
                    </a:p>
                  </a:txBody>
                  <a:tcPr anchor="ctr">
                    <a:lnL w="6096" cap="flat" cmpd="sng" algn="ctr">
                      <a:solidFill>
                        <a:srgbClr val="2A2B2C"/>
                      </a:solidFill>
                      <a:prstDash val="solid"/>
                      <a:round/>
                      <a:headEnd type="none" w="med" len="med"/>
                      <a:tailEnd type="none" w="med" len="med"/>
                    </a:lnL>
                    <a:lnR w="6096" cap="flat" cmpd="sng" algn="ctr">
                      <a:solidFill>
                        <a:srgbClr val="2A2B2C"/>
                      </a:solidFill>
                      <a:prstDash val="solid"/>
                      <a:round/>
                      <a:headEnd type="none" w="med" len="med"/>
                      <a:tailEnd type="none" w="med" len="med"/>
                    </a:lnR>
                    <a:lnT w="6096" cap="flat" cmpd="sng" algn="ctr">
                      <a:solidFill>
                        <a:srgbClr val="2A2B2C"/>
                      </a:solidFill>
                      <a:prstDash val="solid"/>
                      <a:round/>
                      <a:headEnd type="none" w="med" len="med"/>
                      <a:tailEnd type="none" w="med" len="med"/>
                    </a:lnT>
                    <a:lnB w="6096" cap="flat" cmpd="sng" algn="ctr">
                      <a:solidFill>
                        <a:srgbClr val="2A2B2C"/>
                      </a:solidFill>
                      <a:prstDash val="solid"/>
                      <a:round/>
                      <a:headEnd type="none" w="med" len="med"/>
                      <a:tailEnd type="none" w="med" len="med"/>
                    </a:lnB>
                    <a:noFill/>
                  </a:tcPr>
                </a:tc>
                <a:tc>
                  <a:txBody>
                    <a:bodyPr/>
                    <a:lstStyle/>
                    <a:p>
                      <a:pPr algn="l">
                        <a:buNone/>
                      </a:pPr>
                      <a:r>
                        <a:rPr lang="en-IN" b="1">
                          <a:effectLst/>
                        </a:rPr>
                        <a:t>8</a:t>
                      </a:r>
                      <a:endParaRPr lang="en-IN" b="0">
                        <a:effectLst/>
                      </a:endParaRPr>
                    </a:p>
                  </a:txBody>
                  <a:tcPr anchor="ctr">
                    <a:lnL w="6096" cap="flat" cmpd="sng" algn="ctr">
                      <a:solidFill>
                        <a:srgbClr val="2A2B2C"/>
                      </a:solidFill>
                      <a:prstDash val="solid"/>
                      <a:round/>
                      <a:headEnd type="none" w="med" len="med"/>
                      <a:tailEnd type="none" w="med" len="med"/>
                    </a:lnL>
                    <a:lnR w="6096" cap="flat" cmpd="sng" algn="ctr">
                      <a:solidFill>
                        <a:srgbClr val="2A2B2C"/>
                      </a:solidFill>
                      <a:prstDash val="solid"/>
                      <a:round/>
                      <a:headEnd type="none" w="med" len="med"/>
                      <a:tailEnd type="none" w="med" len="med"/>
                    </a:lnR>
                    <a:lnT w="6096" cap="flat" cmpd="sng" algn="ctr">
                      <a:solidFill>
                        <a:srgbClr val="2A2B2C"/>
                      </a:solidFill>
                      <a:prstDash val="solid"/>
                      <a:round/>
                      <a:headEnd type="none" w="med" len="med"/>
                      <a:tailEnd type="none" w="med" len="med"/>
                    </a:lnT>
                    <a:lnB w="6096" cap="flat" cmpd="sng" algn="ctr">
                      <a:solidFill>
                        <a:srgbClr val="2A2B2C"/>
                      </a:solidFill>
                      <a:prstDash val="solid"/>
                      <a:round/>
                      <a:headEnd type="none" w="med" len="med"/>
                      <a:tailEnd type="none" w="med" len="med"/>
                    </a:lnB>
                    <a:noFill/>
                  </a:tcPr>
                </a:tc>
                <a:extLst>
                  <a:ext uri="{0D108BD9-81ED-4DB2-BD59-A6C34878D82A}">
                    <a16:rowId xmlns:a16="http://schemas.microsoft.com/office/drawing/2014/main" val="1189096274"/>
                  </a:ext>
                </a:extLst>
              </a:tr>
              <a:tr h="288431">
                <a:tc>
                  <a:txBody>
                    <a:bodyPr/>
                    <a:lstStyle/>
                    <a:p>
                      <a:pPr algn="l">
                        <a:buNone/>
                      </a:pPr>
                      <a:r>
                        <a:rPr lang="en-IN" b="0">
                          <a:effectLst/>
                        </a:rPr>
                        <a:t>Cost per guidance session</a:t>
                      </a:r>
                    </a:p>
                  </a:txBody>
                  <a:tcPr anchor="ctr">
                    <a:lnL w="6096" cap="flat" cmpd="sng" algn="ctr">
                      <a:solidFill>
                        <a:srgbClr val="2A2B2C"/>
                      </a:solidFill>
                      <a:prstDash val="solid"/>
                      <a:round/>
                      <a:headEnd type="none" w="med" len="med"/>
                      <a:tailEnd type="none" w="med" len="med"/>
                    </a:lnL>
                    <a:lnR w="6096" cap="flat" cmpd="sng" algn="ctr">
                      <a:solidFill>
                        <a:srgbClr val="2A2B2C"/>
                      </a:solidFill>
                      <a:prstDash val="solid"/>
                      <a:round/>
                      <a:headEnd type="none" w="med" len="med"/>
                      <a:tailEnd type="none" w="med" len="med"/>
                    </a:lnR>
                    <a:lnT w="6096" cap="flat" cmpd="sng" algn="ctr">
                      <a:solidFill>
                        <a:srgbClr val="2A2B2C"/>
                      </a:solidFill>
                      <a:prstDash val="solid"/>
                      <a:round/>
                      <a:headEnd type="none" w="med" len="med"/>
                      <a:tailEnd type="none" w="med" len="med"/>
                    </a:lnT>
                    <a:lnB w="6096" cap="flat" cmpd="sng" algn="ctr">
                      <a:solidFill>
                        <a:srgbClr val="2A2B2C"/>
                      </a:solidFill>
                      <a:prstDash val="solid"/>
                      <a:round/>
                      <a:headEnd type="none" w="med" len="med"/>
                      <a:tailEnd type="none" w="med" len="med"/>
                    </a:lnB>
                    <a:noFill/>
                  </a:tcPr>
                </a:tc>
                <a:tc>
                  <a:txBody>
                    <a:bodyPr/>
                    <a:lstStyle/>
                    <a:p>
                      <a:pPr algn="l">
                        <a:buNone/>
                      </a:pPr>
                      <a:r>
                        <a:rPr lang="en-IN" b="1">
                          <a:effectLst/>
                        </a:rPr>
                        <a:t>₹0</a:t>
                      </a:r>
                      <a:endParaRPr lang="en-IN" b="0">
                        <a:effectLst/>
                      </a:endParaRPr>
                    </a:p>
                  </a:txBody>
                  <a:tcPr anchor="ctr">
                    <a:lnL w="6096" cap="flat" cmpd="sng" algn="ctr">
                      <a:solidFill>
                        <a:srgbClr val="2A2B2C"/>
                      </a:solidFill>
                      <a:prstDash val="solid"/>
                      <a:round/>
                      <a:headEnd type="none" w="med" len="med"/>
                      <a:tailEnd type="none" w="med" len="med"/>
                    </a:lnL>
                    <a:lnR w="6096" cap="flat" cmpd="sng" algn="ctr">
                      <a:solidFill>
                        <a:srgbClr val="2A2B2C"/>
                      </a:solidFill>
                      <a:prstDash val="solid"/>
                      <a:round/>
                      <a:headEnd type="none" w="med" len="med"/>
                      <a:tailEnd type="none" w="med" len="med"/>
                    </a:lnR>
                    <a:lnT w="6096" cap="flat" cmpd="sng" algn="ctr">
                      <a:solidFill>
                        <a:srgbClr val="2A2B2C"/>
                      </a:solidFill>
                      <a:prstDash val="solid"/>
                      <a:round/>
                      <a:headEnd type="none" w="med" len="med"/>
                      <a:tailEnd type="none" w="med" len="med"/>
                    </a:lnT>
                    <a:lnB w="6096" cap="flat" cmpd="sng" algn="ctr">
                      <a:solidFill>
                        <a:srgbClr val="2A2B2C"/>
                      </a:solidFill>
                      <a:prstDash val="solid"/>
                      <a:round/>
                      <a:headEnd type="none" w="med" len="med"/>
                      <a:tailEnd type="none" w="med" len="med"/>
                    </a:lnB>
                    <a:noFill/>
                  </a:tcPr>
                </a:tc>
                <a:extLst>
                  <a:ext uri="{0D108BD9-81ED-4DB2-BD59-A6C34878D82A}">
                    <a16:rowId xmlns:a16="http://schemas.microsoft.com/office/drawing/2014/main" val="1115661677"/>
                  </a:ext>
                </a:extLst>
              </a:tr>
              <a:tr h="288431">
                <a:tc>
                  <a:txBody>
                    <a:bodyPr/>
                    <a:lstStyle/>
                    <a:p>
                      <a:pPr algn="l">
                        <a:buNone/>
                      </a:pPr>
                      <a:r>
                        <a:rPr lang="en-IN" b="0">
                          <a:effectLst/>
                        </a:rPr>
                        <a:t>Setup required from user</a:t>
                      </a:r>
                    </a:p>
                  </a:txBody>
                  <a:tcPr anchor="ctr">
                    <a:lnL w="6096" cap="flat" cmpd="sng" algn="ctr">
                      <a:solidFill>
                        <a:srgbClr val="2A2B2C"/>
                      </a:solidFill>
                      <a:prstDash val="solid"/>
                      <a:round/>
                      <a:headEnd type="none" w="med" len="med"/>
                      <a:tailEnd type="none" w="med" len="med"/>
                    </a:lnL>
                    <a:lnR w="6096" cap="flat" cmpd="sng" algn="ctr">
                      <a:solidFill>
                        <a:srgbClr val="2A2B2C"/>
                      </a:solidFill>
                      <a:prstDash val="solid"/>
                      <a:round/>
                      <a:headEnd type="none" w="med" len="med"/>
                      <a:tailEnd type="none" w="med" len="med"/>
                    </a:lnR>
                    <a:lnT w="6096" cap="flat" cmpd="sng" algn="ctr">
                      <a:solidFill>
                        <a:srgbClr val="2A2B2C"/>
                      </a:solidFill>
                      <a:prstDash val="solid"/>
                      <a:round/>
                      <a:headEnd type="none" w="med" len="med"/>
                      <a:tailEnd type="none" w="med" len="med"/>
                    </a:lnT>
                    <a:lnB w="6096" cap="flat" cmpd="sng" algn="ctr">
                      <a:solidFill>
                        <a:srgbClr val="2A2B2C"/>
                      </a:solidFill>
                      <a:prstDash val="solid"/>
                      <a:round/>
                      <a:headEnd type="none" w="med" len="med"/>
                      <a:tailEnd type="none" w="med" len="med"/>
                    </a:lnB>
                    <a:noFill/>
                  </a:tcPr>
                </a:tc>
                <a:tc>
                  <a:txBody>
                    <a:bodyPr/>
                    <a:lstStyle/>
                    <a:p>
                      <a:pPr algn="l">
                        <a:buNone/>
                      </a:pPr>
                      <a:r>
                        <a:rPr lang="en-IN" b="1">
                          <a:effectLst/>
                        </a:rPr>
                        <a:t>Zero — just open a browser</a:t>
                      </a:r>
                      <a:endParaRPr lang="en-IN" b="0">
                        <a:effectLst/>
                      </a:endParaRPr>
                    </a:p>
                  </a:txBody>
                  <a:tcPr anchor="ctr">
                    <a:lnL w="6096" cap="flat" cmpd="sng" algn="ctr">
                      <a:solidFill>
                        <a:srgbClr val="2A2B2C"/>
                      </a:solidFill>
                      <a:prstDash val="solid"/>
                      <a:round/>
                      <a:headEnd type="none" w="med" len="med"/>
                      <a:tailEnd type="none" w="med" len="med"/>
                    </a:lnL>
                    <a:lnR w="6096" cap="flat" cmpd="sng" algn="ctr">
                      <a:solidFill>
                        <a:srgbClr val="2A2B2C"/>
                      </a:solidFill>
                      <a:prstDash val="solid"/>
                      <a:round/>
                      <a:headEnd type="none" w="med" len="med"/>
                      <a:tailEnd type="none" w="med" len="med"/>
                    </a:lnR>
                    <a:lnT w="6096" cap="flat" cmpd="sng" algn="ctr">
                      <a:solidFill>
                        <a:srgbClr val="2A2B2C"/>
                      </a:solidFill>
                      <a:prstDash val="solid"/>
                      <a:round/>
                      <a:headEnd type="none" w="med" len="med"/>
                      <a:tailEnd type="none" w="med" len="med"/>
                    </a:lnT>
                    <a:lnB w="6096" cap="flat" cmpd="sng" algn="ctr">
                      <a:solidFill>
                        <a:srgbClr val="2A2B2C"/>
                      </a:solidFill>
                      <a:prstDash val="solid"/>
                      <a:round/>
                      <a:headEnd type="none" w="med" len="med"/>
                      <a:tailEnd type="none" w="med" len="med"/>
                    </a:lnB>
                    <a:noFill/>
                  </a:tcPr>
                </a:tc>
                <a:extLst>
                  <a:ext uri="{0D108BD9-81ED-4DB2-BD59-A6C34878D82A}">
                    <a16:rowId xmlns:a16="http://schemas.microsoft.com/office/drawing/2014/main" val="849196460"/>
                  </a:ext>
                </a:extLst>
              </a:tr>
              <a:tr h="288431">
                <a:tc>
                  <a:txBody>
                    <a:bodyPr/>
                    <a:lstStyle/>
                    <a:p>
                      <a:pPr algn="l">
                        <a:buNone/>
                      </a:pPr>
                      <a:r>
                        <a:rPr lang="en-IN" b="0">
                          <a:effectLst/>
                        </a:rPr>
                        <a:t>Languages</a:t>
                      </a:r>
                    </a:p>
                  </a:txBody>
                  <a:tcPr anchor="ctr">
                    <a:lnL w="6096" cap="flat" cmpd="sng" algn="ctr">
                      <a:solidFill>
                        <a:srgbClr val="2A2B2C"/>
                      </a:solidFill>
                      <a:prstDash val="solid"/>
                      <a:round/>
                      <a:headEnd type="none" w="med" len="med"/>
                      <a:tailEnd type="none" w="med" len="med"/>
                    </a:lnL>
                    <a:lnR w="6096" cap="flat" cmpd="sng" algn="ctr">
                      <a:solidFill>
                        <a:srgbClr val="2A2B2C"/>
                      </a:solidFill>
                      <a:prstDash val="solid"/>
                      <a:round/>
                      <a:headEnd type="none" w="med" len="med"/>
                      <a:tailEnd type="none" w="med" len="med"/>
                    </a:lnR>
                    <a:lnT w="6096" cap="flat" cmpd="sng" algn="ctr">
                      <a:solidFill>
                        <a:srgbClr val="2A2B2C"/>
                      </a:solidFill>
                      <a:prstDash val="solid"/>
                      <a:round/>
                      <a:headEnd type="none" w="med" len="med"/>
                      <a:tailEnd type="none" w="med" len="med"/>
                    </a:lnT>
                    <a:lnB w="6096" cap="flat" cmpd="sng" algn="ctr">
                      <a:solidFill>
                        <a:srgbClr val="2A2B2C"/>
                      </a:solidFill>
                      <a:prstDash val="solid"/>
                      <a:round/>
                      <a:headEnd type="none" w="med" len="med"/>
                      <a:tailEnd type="none" w="med" len="med"/>
                    </a:lnB>
                    <a:noFill/>
                  </a:tcPr>
                </a:tc>
                <a:tc>
                  <a:txBody>
                    <a:bodyPr/>
                    <a:lstStyle/>
                    <a:p>
                      <a:pPr algn="l">
                        <a:buNone/>
                      </a:pPr>
                      <a:r>
                        <a:rPr lang="en-IN" b="1" dirty="0">
                          <a:effectLst/>
                        </a:rPr>
                        <a:t>English + Hindi (22 planned)</a:t>
                      </a:r>
                      <a:endParaRPr lang="en-IN" b="0" dirty="0">
                        <a:effectLst/>
                      </a:endParaRPr>
                    </a:p>
                  </a:txBody>
                  <a:tcPr anchor="ctr">
                    <a:lnL w="6096" cap="flat" cmpd="sng" algn="ctr">
                      <a:solidFill>
                        <a:srgbClr val="2A2B2C"/>
                      </a:solidFill>
                      <a:prstDash val="solid"/>
                      <a:round/>
                      <a:headEnd type="none" w="med" len="med"/>
                      <a:tailEnd type="none" w="med" len="med"/>
                    </a:lnL>
                    <a:lnR w="6096" cap="flat" cmpd="sng" algn="ctr">
                      <a:solidFill>
                        <a:srgbClr val="2A2B2C"/>
                      </a:solidFill>
                      <a:prstDash val="solid"/>
                      <a:round/>
                      <a:headEnd type="none" w="med" len="med"/>
                      <a:tailEnd type="none" w="med" len="med"/>
                    </a:lnR>
                    <a:lnT w="6096" cap="flat" cmpd="sng" algn="ctr">
                      <a:solidFill>
                        <a:srgbClr val="2A2B2C"/>
                      </a:solidFill>
                      <a:prstDash val="solid"/>
                      <a:round/>
                      <a:headEnd type="none" w="med" len="med"/>
                      <a:tailEnd type="none" w="med" len="med"/>
                    </a:lnT>
                    <a:lnB w="6096" cap="flat" cmpd="sng" algn="ctr">
                      <a:solidFill>
                        <a:srgbClr val="2A2B2C"/>
                      </a:solidFill>
                      <a:prstDash val="solid"/>
                      <a:round/>
                      <a:headEnd type="none" w="med" len="med"/>
                      <a:tailEnd type="none" w="med" len="med"/>
                    </a:lnB>
                    <a:noFill/>
                  </a:tcPr>
                </a:tc>
                <a:extLst>
                  <a:ext uri="{0D108BD9-81ED-4DB2-BD59-A6C34878D82A}">
                    <a16:rowId xmlns:a16="http://schemas.microsoft.com/office/drawing/2014/main" val="2860331096"/>
                  </a:ext>
                </a:extLst>
              </a:tr>
            </a:tbl>
          </a:graphicData>
        </a:graphic>
      </p:graphicFrame>
    </p:spTree>
    <p:extLst>
      <p:ext uri="{BB962C8B-B14F-4D97-AF65-F5344CB8AC3E}">
        <p14:creationId xmlns:p14="http://schemas.microsoft.com/office/powerpoint/2010/main" val="9179641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Git Hub Link</a:t>
            </a:r>
            <a:endParaRPr sz="2400" b="1">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 </a:t>
            </a:r>
            <a:r>
              <a:rPr lang="en-US" sz="1850" dirty="0">
                <a:solidFill>
                  <a:srgbClr val="2B3541"/>
                </a:solidFill>
                <a:latin typeface="Times New Roman"/>
                <a:ea typeface="Times New Roman"/>
                <a:cs typeface="Times New Roman"/>
                <a:sym typeface="Times New Roman"/>
              </a:rPr>
              <a:t>Please test and Paste the working  </a:t>
            </a:r>
            <a:r>
              <a:rPr lang="en-US" sz="1850" dirty="0" err="1">
                <a:solidFill>
                  <a:srgbClr val="2B3541"/>
                </a:solidFill>
                <a:latin typeface="Times New Roman"/>
                <a:ea typeface="Times New Roman"/>
                <a:cs typeface="Times New Roman"/>
                <a:sym typeface="Times New Roman"/>
              </a:rPr>
              <a:t>Github</a:t>
            </a:r>
            <a:r>
              <a:rPr lang="en-US" sz="1850" dirty="0">
                <a:solidFill>
                  <a:srgbClr val="2B3541"/>
                </a:solidFill>
                <a:latin typeface="Times New Roman"/>
                <a:ea typeface="Times New Roman"/>
                <a:cs typeface="Times New Roman"/>
                <a:sym typeface="Times New Roman"/>
              </a:rPr>
              <a:t> </a:t>
            </a:r>
            <a:r>
              <a:rPr lang="en-US" sz="1850">
                <a:solidFill>
                  <a:srgbClr val="2B3541"/>
                </a:solidFill>
                <a:latin typeface="Times New Roman"/>
                <a:ea typeface="Times New Roman"/>
                <a:cs typeface="Times New Roman"/>
                <a:sym typeface="Times New Roman"/>
              </a:rPr>
              <a:t>URL –</a:t>
            </a:r>
          </a:p>
          <a:p>
            <a:pPr marL="0" marR="0" lvl="0" indent="0" algn="l" rtl="0">
              <a:lnSpc>
                <a:spcPct val="162162"/>
              </a:lnSpc>
              <a:spcBef>
                <a:spcPts val="0"/>
              </a:spcBef>
              <a:spcAft>
                <a:spcPts val="0"/>
              </a:spcAft>
              <a:buClr>
                <a:srgbClr val="2B3541"/>
              </a:buClr>
              <a:buSzPts val="1850"/>
              <a:buFont typeface="Times New Roman"/>
              <a:buNone/>
            </a:pPr>
            <a:r>
              <a:rPr lang="en-US" sz="1850">
                <a:solidFill>
                  <a:srgbClr val="2B3541"/>
                </a:solidFill>
                <a:latin typeface="Times New Roman"/>
                <a:ea typeface="Times New Roman"/>
                <a:cs typeface="Times New Roman"/>
                <a:sym typeface="Times New Roman"/>
              </a:rPr>
              <a:t> </a:t>
            </a:r>
            <a:r>
              <a:rPr lang="en-US" sz="1850" u="sng" dirty="0">
                <a:solidFill>
                  <a:srgbClr val="2B3541"/>
                </a:solidFill>
                <a:latin typeface="Times New Roman"/>
                <a:ea typeface="Times New Roman"/>
                <a:cs typeface="Times New Roman"/>
                <a:sym typeface="Times New Roman"/>
              </a:rPr>
              <a:t>https://github.com/import-sejal-as-nirat/AI-Mentor-for-Rural-Youth.git</a:t>
            </a:r>
            <a:endParaRPr lang="en-US" sz="1850" u="sng" dirty="0">
              <a:solidFill>
                <a:srgbClr val="2B3541"/>
              </a:solidFill>
              <a:latin typeface="Times New Roman"/>
              <a:ea typeface="Times New Roman"/>
              <a:cs typeface="Times New Roman"/>
            </a:endParaRPr>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6058519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 </a:t>
            </a:r>
            <a:endParaRPr sz="2400" b="1" dirty="0">
              <a:sym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8" name="Title 7">
            <a:extLst>
              <a:ext uri="{FF2B5EF4-FFF2-40B4-BE49-F238E27FC236}">
                <a16:creationId xmlns:a16="http://schemas.microsoft.com/office/drawing/2014/main" id="{6BFAACCB-D5E7-3680-A09D-812CC779715A}"/>
              </a:ext>
            </a:extLst>
          </p:cNvPr>
          <p:cNvSpPr>
            <a:spLocks noGrp="1"/>
          </p:cNvSpPr>
          <p:nvPr>
            <p:ph type="title"/>
          </p:nvPr>
        </p:nvSpPr>
        <p:spPr>
          <a:xfrm>
            <a:off x="253998" y="365126"/>
            <a:ext cx="11099802" cy="747516"/>
          </a:xfrm>
        </p:spPr>
        <p:txBody>
          <a:bodyPr>
            <a:normAutofit fontScale="90000"/>
          </a:bodyPr>
          <a:lstStyle/>
          <a:p>
            <a:r>
              <a:rPr lang="en-US" b="1" dirty="0">
                <a:sym typeface="Times New Roman"/>
              </a:rPr>
              <a:t>Future Scope </a:t>
            </a:r>
            <a:br>
              <a:rPr lang="en-US" b="1" dirty="0">
                <a:sym typeface="Times New Roman"/>
              </a:rPr>
            </a:br>
            <a:endParaRPr lang="en-IN" dirty="0"/>
          </a:p>
        </p:txBody>
      </p:sp>
      <p:pic>
        <p:nvPicPr>
          <p:cNvPr id="11" name="Picture 10">
            <a:extLst>
              <a:ext uri="{FF2B5EF4-FFF2-40B4-BE49-F238E27FC236}">
                <a16:creationId xmlns:a16="http://schemas.microsoft.com/office/drawing/2014/main" id="{05B0C719-42B1-C0AD-56B4-EBDF0E32ED3B}"/>
              </a:ext>
            </a:extLst>
          </p:cNvPr>
          <p:cNvPicPr>
            <a:picLocks noChangeAspect="1"/>
          </p:cNvPicPr>
          <p:nvPr/>
        </p:nvPicPr>
        <p:blipFill>
          <a:blip r:embed="rId3"/>
          <a:stretch>
            <a:fillRect/>
          </a:stretch>
        </p:blipFill>
        <p:spPr>
          <a:xfrm>
            <a:off x="6388100" y="1180349"/>
            <a:ext cx="5699760" cy="4633387"/>
          </a:xfrm>
          <a:prstGeom prst="rect">
            <a:avLst/>
          </a:prstGeom>
        </p:spPr>
      </p:pic>
      <p:graphicFrame>
        <p:nvGraphicFramePr>
          <p:cNvPr id="12" name="Table 11">
            <a:extLst>
              <a:ext uri="{FF2B5EF4-FFF2-40B4-BE49-F238E27FC236}">
                <a16:creationId xmlns:a16="http://schemas.microsoft.com/office/drawing/2014/main" id="{85C608BB-47E2-9B98-7643-A5B194B9BBBA}"/>
              </a:ext>
            </a:extLst>
          </p:cNvPr>
          <p:cNvGraphicFramePr>
            <a:graphicFrameLocks noGrp="1"/>
          </p:cNvGraphicFramePr>
          <p:nvPr>
            <p:extLst>
              <p:ext uri="{D42A27DB-BD31-4B8C-83A1-F6EECF244321}">
                <p14:modId xmlns:p14="http://schemas.microsoft.com/office/powerpoint/2010/main" val="750035360"/>
              </p:ext>
            </p:extLst>
          </p:nvPr>
        </p:nvGraphicFramePr>
        <p:xfrm>
          <a:off x="253998" y="1180349"/>
          <a:ext cx="6134103" cy="4701095"/>
        </p:xfrm>
        <a:graphic>
          <a:graphicData uri="http://schemas.openxmlformats.org/drawingml/2006/table">
            <a:tbl>
              <a:tblPr/>
              <a:tblGrid>
                <a:gridCol w="2044701">
                  <a:extLst>
                    <a:ext uri="{9D8B030D-6E8A-4147-A177-3AD203B41FA5}">
                      <a16:colId xmlns:a16="http://schemas.microsoft.com/office/drawing/2014/main" val="1900054776"/>
                    </a:ext>
                  </a:extLst>
                </a:gridCol>
                <a:gridCol w="2044701">
                  <a:extLst>
                    <a:ext uri="{9D8B030D-6E8A-4147-A177-3AD203B41FA5}">
                      <a16:colId xmlns:a16="http://schemas.microsoft.com/office/drawing/2014/main" val="4141122944"/>
                    </a:ext>
                  </a:extLst>
                </a:gridCol>
                <a:gridCol w="2044701">
                  <a:extLst>
                    <a:ext uri="{9D8B030D-6E8A-4147-A177-3AD203B41FA5}">
                      <a16:colId xmlns:a16="http://schemas.microsoft.com/office/drawing/2014/main" val="3089180176"/>
                    </a:ext>
                  </a:extLst>
                </a:gridCol>
              </a:tblGrid>
              <a:tr h="841987">
                <a:tc>
                  <a:txBody>
                    <a:bodyPr/>
                    <a:lstStyle/>
                    <a:p>
                      <a:pPr algn="l">
                        <a:buNone/>
                      </a:pPr>
                      <a:br>
                        <a:rPr lang="en-IN" b="1" dirty="0">
                          <a:solidFill>
                            <a:srgbClr val="BFBFBF"/>
                          </a:solidFill>
                          <a:effectLst/>
                        </a:rPr>
                      </a:br>
                      <a:endParaRPr lang="en-IN" b="1" dirty="0">
                        <a:solidFill>
                          <a:srgbClr val="BFBFBF"/>
                        </a:solidFill>
                        <a:effectLst/>
                      </a:endParaRPr>
                    </a:p>
                  </a:txBody>
                  <a:tcPr anchor="ctr">
                    <a:lnL w="6096" cap="flat" cmpd="sng" algn="ctr">
                      <a:solidFill>
                        <a:srgbClr val="2A2B2C"/>
                      </a:solidFill>
                      <a:prstDash val="solid"/>
                      <a:round/>
                      <a:headEnd type="none" w="med" len="med"/>
                      <a:tailEnd type="none" w="med" len="med"/>
                    </a:lnL>
                    <a:lnR w="6096" cap="flat" cmpd="sng" algn="ctr">
                      <a:solidFill>
                        <a:srgbClr val="2A2B2C"/>
                      </a:solidFill>
                      <a:prstDash val="solid"/>
                      <a:round/>
                      <a:headEnd type="none" w="med" len="med"/>
                      <a:tailEnd type="none" w="med" len="med"/>
                    </a:lnR>
                    <a:lnT w="6096" cap="flat" cmpd="sng" algn="ctr">
                      <a:solidFill>
                        <a:srgbClr val="2A2B2C"/>
                      </a:solidFill>
                      <a:prstDash val="solid"/>
                      <a:round/>
                      <a:headEnd type="none" w="med" len="med"/>
                      <a:tailEnd type="none" w="med" len="med"/>
                    </a:lnT>
                    <a:lnB w="6096" cap="flat" cmpd="sng" algn="ctr">
                      <a:solidFill>
                        <a:srgbClr val="2A2B2C"/>
                      </a:solidFill>
                      <a:prstDash val="solid"/>
                      <a:round/>
                      <a:headEnd type="none" w="med" len="med"/>
                      <a:tailEnd type="none" w="med" len="med"/>
                    </a:lnB>
                    <a:solidFill>
                      <a:schemeClr val="bg1"/>
                    </a:solidFill>
                  </a:tcPr>
                </a:tc>
                <a:tc>
                  <a:txBody>
                    <a:bodyPr/>
                    <a:lstStyle/>
                    <a:p>
                      <a:pPr algn="ctr">
                        <a:buNone/>
                      </a:pPr>
                      <a:r>
                        <a:rPr lang="en-IN" b="1" dirty="0">
                          <a:solidFill>
                            <a:schemeClr val="tx1"/>
                          </a:solidFill>
                          <a:effectLst/>
                        </a:rPr>
                        <a:t>Scope 1 — Agentic AI</a:t>
                      </a:r>
                    </a:p>
                  </a:txBody>
                  <a:tcPr anchor="ctr">
                    <a:lnL w="6096" cap="flat" cmpd="sng" algn="ctr">
                      <a:solidFill>
                        <a:srgbClr val="2A2B2C"/>
                      </a:solidFill>
                      <a:prstDash val="solid"/>
                      <a:round/>
                      <a:headEnd type="none" w="med" len="med"/>
                      <a:tailEnd type="none" w="med" len="med"/>
                    </a:lnL>
                    <a:lnR w="6096" cap="flat" cmpd="sng" algn="ctr">
                      <a:solidFill>
                        <a:srgbClr val="2A2B2C"/>
                      </a:solidFill>
                      <a:prstDash val="solid"/>
                      <a:round/>
                      <a:headEnd type="none" w="med" len="med"/>
                      <a:tailEnd type="none" w="med" len="med"/>
                    </a:lnR>
                    <a:lnT w="6096" cap="flat" cmpd="sng" algn="ctr">
                      <a:solidFill>
                        <a:srgbClr val="2A2B2C"/>
                      </a:solidFill>
                      <a:prstDash val="solid"/>
                      <a:round/>
                      <a:headEnd type="none" w="med" len="med"/>
                      <a:tailEnd type="none" w="med" len="med"/>
                    </a:lnT>
                    <a:lnB w="6096" cap="flat" cmpd="sng" algn="ctr">
                      <a:solidFill>
                        <a:srgbClr val="2A2B2C"/>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IN" b="1" dirty="0">
                          <a:solidFill>
                            <a:schemeClr val="tx1"/>
                          </a:solidFill>
                          <a:effectLst/>
                        </a:rPr>
                        <a:t>Scope 2 — Offline PWA</a:t>
                      </a:r>
                    </a:p>
                    <a:p>
                      <a:pPr algn="ctr"/>
                      <a:endParaRPr lang="en-IN" dirty="0">
                        <a:solidFill>
                          <a:schemeClr val="tx1"/>
                        </a:solidFill>
                      </a:endParaRPr>
                    </a:p>
                  </a:txBody>
                  <a:tcPr>
                    <a:lnL w="6096" cap="flat" cmpd="sng" algn="ctr">
                      <a:solidFill>
                        <a:srgbClr val="2A2B2C"/>
                      </a:solidFill>
                      <a:prstDash val="solid"/>
                      <a:round/>
                      <a:headEnd type="none" w="med" len="med"/>
                      <a:tailEnd type="none" w="med" len="med"/>
                    </a:lnL>
                    <a:lnB w="6096" cap="flat" cmpd="sng" algn="ctr">
                      <a:solidFill>
                        <a:srgbClr val="2A2B2C"/>
                      </a:solidFill>
                      <a:prstDash val="solid"/>
                      <a:round/>
                      <a:headEnd type="none" w="med" len="med"/>
                      <a:tailEnd type="none" w="med" len="med"/>
                    </a:lnB>
                  </a:tcPr>
                </a:tc>
                <a:extLst>
                  <a:ext uri="{0D108BD9-81ED-4DB2-BD59-A6C34878D82A}">
                    <a16:rowId xmlns:a16="http://schemas.microsoft.com/office/drawing/2014/main" val="3619461481"/>
                  </a:ext>
                </a:extLst>
              </a:tr>
              <a:tr h="1087567">
                <a:tc>
                  <a:txBody>
                    <a:bodyPr/>
                    <a:lstStyle/>
                    <a:p>
                      <a:pPr algn="l">
                        <a:buNone/>
                      </a:pPr>
                      <a:r>
                        <a:rPr lang="en-IN" b="1">
                          <a:effectLst/>
                        </a:rPr>
                        <a:t>Problem solved</a:t>
                      </a:r>
                      <a:endParaRPr lang="en-IN" b="0">
                        <a:effectLst/>
                      </a:endParaRPr>
                    </a:p>
                  </a:txBody>
                  <a:tcPr anchor="ctr">
                    <a:lnL w="6096" cap="flat" cmpd="sng" algn="ctr">
                      <a:solidFill>
                        <a:srgbClr val="2A2B2C"/>
                      </a:solidFill>
                      <a:prstDash val="solid"/>
                      <a:round/>
                      <a:headEnd type="none" w="med" len="med"/>
                      <a:tailEnd type="none" w="med" len="med"/>
                    </a:lnL>
                    <a:lnR w="6096" cap="flat" cmpd="sng" algn="ctr">
                      <a:solidFill>
                        <a:srgbClr val="2A2B2C"/>
                      </a:solidFill>
                      <a:prstDash val="solid"/>
                      <a:round/>
                      <a:headEnd type="none" w="med" len="med"/>
                      <a:tailEnd type="none" w="med" len="med"/>
                    </a:lnR>
                    <a:lnT w="6096" cap="flat" cmpd="sng" algn="ctr">
                      <a:solidFill>
                        <a:srgbClr val="2A2B2C"/>
                      </a:solidFill>
                      <a:prstDash val="solid"/>
                      <a:round/>
                      <a:headEnd type="none" w="med" len="med"/>
                      <a:tailEnd type="none" w="med" len="med"/>
                    </a:lnT>
                    <a:lnB w="6096" cap="flat" cmpd="sng" algn="ctr">
                      <a:solidFill>
                        <a:srgbClr val="2A2B2C"/>
                      </a:solidFill>
                      <a:prstDash val="solid"/>
                      <a:round/>
                      <a:headEnd type="none" w="med" len="med"/>
                      <a:tailEnd type="none" w="med" len="med"/>
                    </a:lnB>
                    <a:noFill/>
                  </a:tcPr>
                </a:tc>
                <a:tc>
                  <a:txBody>
                    <a:bodyPr/>
                    <a:lstStyle/>
                    <a:p>
                      <a:pPr algn="l">
                        <a:buNone/>
                      </a:pPr>
                      <a:r>
                        <a:rPr lang="en-IN" b="0">
                          <a:effectLst/>
                        </a:rPr>
                        <a:t>Outdated data, single-shot answers, no follow-through</a:t>
                      </a:r>
                    </a:p>
                  </a:txBody>
                  <a:tcPr anchor="ctr">
                    <a:lnL w="6096" cap="flat" cmpd="sng" algn="ctr">
                      <a:solidFill>
                        <a:srgbClr val="2A2B2C"/>
                      </a:solidFill>
                      <a:prstDash val="solid"/>
                      <a:round/>
                      <a:headEnd type="none" w="med" len="med"/>
                      <a:tailEnd type="none" w="med" len="med"/>
                    </a:lnL>
                    <a:lnR w="6096" cap="flat" cmpd="sng" algn="ctr">
                      <a:solidFill>
                        <a:srgbClr val="2A2B2C"/>
                      </a:solidFill>
                      <a:prstDash val="solid"/>
                      <a:round/>
                      <a:headEnd type="none" w="med" len="med"/>
                      <a:tailEnd type="none" w="med" len="med"/>
                    </a:lnR>
                    <a:lnT w="6096" cap="flat" cmpd="sng" algn="ctr">
                      <a:solidFill>
                        <a:srgbClr val="2A2B2C"/>
                      </a:solidFill>
                      <a:prstDash val="solid"/>
                      <a:round/>
                      <a:headEnd type="none" w="med" len="med"/>
                      <a:tailEnd type="none" w="med" len="med"/>
                    </a:lnT>
                    <a:lnB w="6096" cap="flat" cmpd="sng" algn="ctr">
                      <a:solidFill>
                        <a:srgbClr val="2A2B2C"/>
                      </a:solidFill>
                      <a:prstDash val="solid"/>
                      <a:round/>
                      <a:headEnd type="none" w="med" len="med"/>
                      <a:tailEnd type="none" w="med" len="med"/>
                    </a:lnB>
                    <a:noFill/>
                  </a:tcPr>
                </a:tc>
                <a:tc>
                  <a:txBody>
                    <a:bodyPr/>
                    <a:lstStyle/>
                    <a:p>
                      <a:pPr algn="l">
                        <a:buNone/>
                      </a:pPr>
                      <a:r>
                        <a:rPr lang="en-IN" b="0">
                          <a:effectLst/>
                        </a:rPr>
                        <a:t>No internet, no PC, no voice support</a:t>
                      </a:r>
                    </a:p>
                  </a:txBody>
                  <a:tcPr anchor="ctr">
                    <a:lnL w="6096" cap="flat" cmpd="sng" algn="ctr">
                      <a:solidFill>
                        <a:srgbClr val="2A2B2C"/>
                      </a:solidFill>
                      <a:prstDash val="solid"/>
                      <a:round/>
                      <a:headEnd type="none" w="med" len="med"/>
                      <a:tailEnd type="none" w="med" len="med"/>
                    </a:lnL>
                    <a:lnR w="6096" cap="flat" cmpd="sng" algn="ctr">
                      <a:solidFill>
                        <a:srgbClr val="2A2B2C"/>
                      </a:solidFill>
                      <a:prstDash val="solid"/>
                      <a:round/>
                      <a:headEnd type="none" w="med" len="med"/>
                      <a:tailEnd type="none" w="med" len="med"/>
                    </a:lnR>
                    <a:lnT w="6096" cap="flat" cmpd="sng" algn="ctr">
                      <a:solidFill>
                        <a:srgbClr val="2A2B2C"/>
                      </a:solidFill>
                      <a:prstDash val="solid"/>
                      <a:round/>
                      <a:headEnd type="none" w="med" len="med"/>
                      <a:tailEnd type="none" w="med" len="med"/>
                    </a:lnT>
                    <a:lnB w="6096" cap="flat" cmpd="sng" algn="ctr">
                      <a:solidFill>
                        <a:srgbClr val="2A2B2C"/>
                      </a:solidFill>
                      <a:prstDash val="solid"/>
                      <a:round/>
                      <a:headEnd type="none" w="med" len="med"/>
                      <a:tailEnd type="none" w="med" len="med"/>
                    </a:lnB>
                    <a:noFill/>
                  </a:tcPr>
                </a:tc>
                <a:extLst>
                  <a:ext uri="{0D108BD9-81ED-4DB2-BD59-A6C34878D82A}">
                    <a16:rowId xmlns:a16="http://schemas.microsoft.com/office/drawing/2014/main" val="621823817"/>
                  </a:ext>
                </a:extLst>
              </a:tr>
              <a:tr h="841987">
                <a:tc>
                  <a:txBody>
                    <a:bodyPr/>
                    <a:lstStyle/>
                    <a:p>
                      <a:pPr algn="l">
                        <a:buNone/>
                      </a:pPr>
                      <a:r>
                        <a:rPr lang="en-IN" b="1">
                          <a:effectLst/>
                        </a:rPr>
                        <a:t>Who benefits</a:t>
                      </a:r>
                      <a:endParaRPr lang="en-IN" b="0">
                        <a:effectLst/>
                      </a:endParaRPr>
                    </a:p>
                  </a:txBody>
                  <a:tcPr anchor="ctr">
                    <a:lnL w="6096" cap="flat" cmpd="sng" algn="ctr">
                      <a:solidFill>
                        <a:srgbClr val="2A2B2C"/>
                      </a:solidFill>
                      <a:prstDash val="solid"/>
                      <a:round/>
                      <a:headEnd type="none" w="med" len="med"/>
                      <a:tailEnd type="none" w="med" len="med"/>
                    </a:lnL>
                    <a:lnR w="6096" cap="flat" cmpd="sng" algn="ctr">
                      <a:solidFill>
                        <a:srgbClr val="2A2B2C"/>
                      </a:solidFill>
                      <a:prstDash val="solid"/>
                      <a:round/>
                      <a:headEnd type="none" w="med" len="med"/>
                      <a:tailEnd type="none" w="med" len="med"/>
                    </a:lnR>
                    <a:lnT w="6096" cap="flat" cmpd="sng" algn="ctr">
                      <a:solidFill>
                        <a:srgbClr val="2A2B2C"/>
                      </a:solidFill>
                      <a:prstDash val="solid"/>
                      <a:round/>
                      <a:headEnd type="none" w="med" len="med"/>
                      <a:tailEnd type="none" w="med" len="med"/>
                    </a:lnT>
                    <a:lnB w="6096" cap="flat" cmpd="sng" algn="ctr">
                      <a:solidFill>
                        <a:srgbClr val="2A2B2C"/>
                      </a:solidFill>
                      <a:prstDash val="solid"/>
                      <a:round/>
                      <a:headEnd type="none" w="med" len="med"/>
                      <a:tailEnd type="none" w="med" len="med"/>
                    </a:lnB>
                    <a:noFill/>
                  </a:tcPr>
                </a:tc>
                <a:tc>
                  <a:txBody>
                    <a:bodyPr/>
                    <a:lstStyle/>
                    <a:p>
                      <a:pPr algn="l">
                        <a:buNone/>
                      </a:pPr>
                      <a:r>
                        <a:rPr lang="en-IN" b="0">
                          <a:effectLst/>
                        </a:rPr>
                        <a:t>Youth with internet who need deep guidance</a:t>
                      </a:r>
                    </a:p>
                  </a:txBody>
                  <a:tcPr anchor="ctr">
                    <a:lnL w="6096" cap="flat" cmpd="sng" algn="ctr">
                      <a:solidFill>
                        <a:srgbClr val="2A2B2C"/>
                      </a:solidFill>
                      <a:prstDash val="solid"/>
                      <a:round/>
                      <a:headEnd type="none" w="med" len="med"/>
                      <a:tailEnd type="none" w="med" len="med"/>
                    </a:lnL>
                    <a:lnR w="6096" cap="flat" cmpd="sng" algn="ctr">
                      <a:solidFill>
                        <a:srgbClr val="2A2B2C"/>
                      </a:solidFill>
                      <a:prstDash val="solid"/>
                      <a:round/>
                      <a:headEnd type="none" w="med" len="med"/>
                      <a:tailEnd type="none" w="med" len="med"/>
                    </a:lnR>
                    <a:lnT w="6096" cap="flat" cmpd="sng" algn="ctr">
                      <a:solidFill>
                        <a:srgbClr val="2A2B2C"/>
                      </a:solidFill>
                      <a:prstDash val="solid"/>
                      <a:round/>
                      <a:headEnd type="none" w="med" len="med"/>
                      <a:tailEnd type="none" w="med" len="med"/>
                    </a:lnT>
                    <a:lnB w="6096" cap="flat" cmpd="sng" algn="ctr">
                      <a:solidFill>
                        <a:srgbClr val="2A2B2C"/>
                      </a:solidFill>
                      <a:prstDash val="solid"/>
                      <a:round/>
                      <a:headEnd type="none" w="med" len="med"/>
                      <a:tailEnd type="none" w="med" len="med"/>
                    </a:lnB>
                    <a:noFill/>
                  </a:tcPr>
                </a:tc>
                <a:tc>
                  <a:txBody>
                    <a:bodyPr/>
                    <a:lstStyle/>
                    <a:p>
                      <a:pPr algn="l">
                        <a:buNone/>
                      </a:pPr>
                      <a:r>
                        <a:rPr lang="en-IN" b="0">
                          <a:effectLst/>
                        </a:rPr>
                        <a:t>500M+ rural users on low-end phones</a:t>
                      </a:r>
                    </a:p>
                  </a:txBody>
                  <a:tcPr anchor="ctr">
                    <a:lnL w="6096" cap="flat" cmpd="sng" algn="ctr">
                      <a:solidFill>
                        <a:srgbClr val="2A2B2C"/>
                      </a:solidFill>
                      <a:prstDash val="solid"/>
                      <a:round/>
                      <a:headEnd type="none" w="med" len="med"/>
                      <a:tailEnd type="none" w="med" len="med"/>
                    </a:lnL>
                    <a:lnR w="6096" cap="flat" cmpd="sng" algn="ctr">
                      <a:solidFill>
                        <a:srgbClr val="2A2B2C"/>
                      </a:solidFill>
                      <a:prstDash val="solid"/>
                      <a:round/>
                      <a:headEnd type="none" w="med" len="med"/>
                      <a:tailEnd type="none" w="med" len="med"/>
                    </a:lnR>
                    <a:lnT w="6096" cap="flat" cmpd="sng" algn="ctr">
                      <a:solidFill>
                        <a:srgbClr val="2A2B2C"/>
                      </a:solidFill>
                      <a:prstDash val="solid"/>
                      <a:round/>
                      <a:headEnd type="none" w="med" len="med"/>
                      <a:tailEnd type="none" w="med" len="med"/>
                    </a:lnT>
                    <a:lnB w="6096" cap="flat" cmpd="sng" algn="ctr">
                      <a:solidFill>
                        <a:srgbClr val="2A2B2C"/>
                      </a:solidFill>
                      <a:prstDash val="solid"/>
                      <a:round/>
                      <a:headEnd type="none" w="med" len="med"/>
                      <a:tailEnd type="none" w="med" len="med"/>
                    </a:lnB>
                    <a:noFill/>
                  </a:tcPr>
                </a:tc>
                <a:extLst>
                  <a:ext uri="{0D108BD9-81ED-4DB2-BD59-A6C34878D82A}">
                    <a16:rowId xmlns:a16="http://schemas.microsoft.com/office/drawing/2014/main" val="3410606828"/>
                  </a:ext>
                </a:extLst>
              </a:tr>
              <a:tr h="1087567">
                <a:tc>
                  <a:txBody>
                    <a:bodyPr/>
                    <a:lstStyle/>
                    <a:p>
                      <a:pPr algn="l">
                        <a:buNone/>
                      </a:pPr>
                      <a:r>
                        <a:rPr lang="en-IN" b="1">
                          <a:effectLst/>
                        </a:rPr>
                        <a:t>Core tech</a:t>
                      </a:r>
                      <a:endParaRPr lang="en-IN" b="0">
                        <a:effectLst/>
                      </a:endParaRPr>
                    </a:p>
                  </a:txBody>
                  <a:tcPr anchor="ctr">
                    <a:lnL w="6096" cap="flat" cmpd="sng" algn="ctr">
                      <a:solidFill>
                        <a:srgbClr val="2A2B2C"/>
                      </a:solidFill>
                      <a:prstDash val="solid"/>
                      <a:round/>
                      <a:headEnd type="none" w="med" len="med"/>
                      <a:tailEnd type="none" w="med" len="med"/>
                    </a:lnL>
                    <a:lnR w="6096" cap="flat" cmpd="sng" algn="ctr">
                      <a:solidFill>
                        <a:srgbClr val="2A2B2C"/>
                      </a:solidFill>
                      <a:prstDash val="solid"/>
                      <a:round/>
                      <a:headEnd type="none" w="med" len="med"/>
                      <a:tailEnd type="none" w="med" len="med"/>
                    </a:lnR>
                    <a:lnT w="6096" cap="flat" cmpd="sng" algn="ctr">
                      <a:solidFill>
                        <a:srgbClr val="2A2B2C"/>
                      </a:solidFill>
                      <a:prstDash val="solid"/>
                      <a:round/>
                      <a:headEnd type="none" w="med" len="med"/>
                      <a:tailEnd type="none" w="med" len="med"/>
                    </a:lnT>
                    <a:lnB w="6096" cap="flat" cmpd="sng" algn="ctr">
                      <a:solidFill>
                        <a:srgbClr val="2A2B2C"/>
                      </a:solidFill>
                      <a:prstDash val="solid"/>
                      <a:round/>
                      <a:headEnd type="none" w="med" len="med"/>
                      <a:tailEnd type="none" w="med" len="med"/>
                    </a:lnB>
                    <a:noFill/>
                  </a:tcPr>
                </a:tc>
                <a:tc>
                  <a:txBody>
                    <a:bodyPr/>
                    <a:lstStyle/>
                    <a:p>
                      <a:pPr algn="l">
                        <a:buNone/>
                      </a:pPr>
                      <a:r>
                        <a:rPr lang="en-IN" b="0">
                          <a:effectLst/>
                        </a:rPr>
                        <a:t>IBM watsonx Orchestrate, LangGraph, Bhashini, RAG</a:t>
                      </a:r>
                    </a:p>
                  </a:txBody>
                  <a:tcPr anchor="ctr">
                    <a:lnL w="6096" cap="flat" cmpd="sng" algn="ctr">
                      <a:solidFill>
                        <a:srgbClr val="2A2B2C"/>
                      </a:solidFill>
                      <a:prstDash val="solid"/>
                      <a:round/>
                      <a:headEnd type="none" w="med" len="med"/>
                      <a:tailEnd type="none" w="med" len="med"/>
                    </a:lnL>
                    <a:lnR w="6096" cap="flat" cmpd="sng" algn="ctr">
                      <a:solidFill>
                        <a:srgbClr val="2A2B2C"/>
                      </a:solidFill>
                      <a:prstDash val="solid"/>
                      <a:round/>
                      <a:headEnd type="none" w="med" len="med"/>
                      <a:tailEnd type="none" w="med" len="med"/>
                    </a:lnR>
                    <a:lnT w="6096" cap="flat" cmpd="sng" algn="ctr">
                      <a:solidFill>
                        <a:srgbClr val="2A2B2C"/>
                      </a:solidFill>
                      <a:prstDash val="solid"/>
                      <a:round/>
                      <a:headEnd type="none" w="med" len="med"/>
                      <a:tailEnd type="none" w="med" len="med"/>
                    </a:lnT>
                    <a:lnB w="6096" cap="flat" cmpd="sng" algn="ctr">
                      <a:solidFill>
                        <a:srgbClr val="2A2B2C"/>
                      </a:solidFill>
                      <a:prstDash val="solid"/>
                      <a:round/>
                      <a:headEnd type="none" w="med" len="med"/>
                      <a:tailEnd type="none" w="med" len="med"/>
                    </a:lnB>
                    <a:noFill/>
                  </a:tcPr>
                </a:tc>
                <a:tc>
                  <a:txBody>
                    <a:bodyPr/>
                    <a:lstStyle/>
                    <a:p>
                      <a:pPr algn="l">
                        <a:buNone/>
                      </a:pPr>
                      <a:r>
                        <a:rPr lang="en-IN" b="0">
                          <a:effectLst/>
                        </a:rPr>
                        <a:t>Service Workers, ONNX Runtime, Bhashini STT/TTS</a:t>
                      </a:r>
                    </a:p>
                  </a:txBody>
                  <a:tcPr anchor="ctr">
                    <a:lnL w="6096" cap="flat" cmpd="sng" algn="ctr">
                      <a:solidFill>
                        <a:srgbClr val="2A2B2C"/>
                      </a:solidFill>
                      <a:prstDash val="solid"/>
                      <a:round/>
                      <a:headEnd type="none" w="med" len="med"/>
                      <a:tailEnd type="none" w="med" len="med"/>
                    </a:lnL>
                    <a:lnR w="6096" cap="flat" cmpd="sng" algn="ctr">
                      <a:solidFill>
                        <a:srgbClr val="2A2B2C"/>
                      </a:solidFill>
                      <a:prstDash val="solid"/>
                      <a:round/>
                      <a:headEnd type="none" w="med" len="med"/>
                      <a:tailEnd type="none" w="med" len="med"/>
                    </a:lnR>
                    <a:lnT w="6096" cap="flat" cmpd="sng" algn="ctr">
                      <a:solidFill>
                        <a:srgbClr val="2A2B2C"/>
                      </a:solidFill>
                      <a:prstDash val="solid"/>
                      <a:round/>
                      <a:headEnd type="none" w="med" len="med"/>
                      <a:tailEnd type="none" w="med" len="med"/>
                    </a:lnT>
                    <a:lnB w="6096" cap="flat" cmpd="sng" algn="ctr">
                      <a:solidFill>
                        <a:srgbClr val="2A2B2C"/>
                      </a:solidFill>
                      <a:prstDash val="solid"/>
                      <a:round/>
                      <a:headEnd type="none" w="med" len="med"/>
                      <a:tailEnd type="none" w="med" len="med"/>
                    </a:lnB>
                    <a:noFill/>
                  </a:tcPr>
                </a:tc>
                <a:extLst>
                  <a:ext uri="{0D108BD9-81ED-4DB2-BD59-A6C34878D82A}">
                    <a16:rowId xmlns:a16="http://schemas.microsoft.com/office/drawing/2014/main" val="214617649"/>
                  </a:ext>
                </a:extLst>
              </a:tr>
              <a:tr h="841987">
                <a:tc>
                  <a:txBody>
                    <a:bodyPr/>
                    <a:lstStyle/>
                    <a:p>
                      <a:pPr algn="l">
                        <a:buNone/>
                      </a:pPr>
                      <a:r>
                        <a:rPr lang="en-IN" b="1">
                          <a:effectLst/>
                        </a:rPr>
                        <a:t>Impact</a:t>
                      </a:r>
                      <a:endParaRPr lang="en-IN" b="0">
                        <a:effectLst/>
                      </a:endParaRPr>
                    </a:p>
                  </a:txBody>
                  <a:tcPr anchor="ctr">
                    <a:lnL w="6096" cap="flat" cmpd="sng" algn="ctr">
                      <a:solidFill>
                        <a:srgbClr val="2A2B2C"/>
                      </a:solidFill>
                      <a:prstDash val="solid"/>
                      <a:round/>
                      <a:headEnd type="none" w="med" len="med"/>
                      <a:tailEnd type="none" w="med" len="med"/>
                    </a:lnL>
                    <a:lnR w="6096" cap="flat" cmpd="sng" algn="ctr">
                      <a:solidFill>
                        <a:srgbClr val="2A2B2C"/>
                      </a:solidFill>
                      <a:prstDash val="solid"/>
                      <a:round/>
                      <a:headEnd type="none" w="med" len="med"/>
                      <a:tailEnd type="none" w="med" len="med"/>
                    </a:lnR>
                    <a:lnT w="6096" cap="flat" cmpd="sng" algn="ctr">
                      <a:solidFill>
                        <a:srgbClr val="2A2B2C"/>
                      </a:solidFill>
                      <a:prstDash val="solid"/>
                      <a:round/>
                      <a:headEnd type="none" w="med" len="med"/>
                      <a:tailEnd type="none" w="med" len="med"/>
                    </a:lnT>
                    <a:lnB w="6096" cap="flat" cmpd="sng" algn="ctr">
                      <a:solidFill>
                        <a:srgbClr val="2A2B2C"/>
                      </a:solidFill>
                      <a:prstDash val="solid"/>
                      <a:round/>
                      <a:headEnd type="none" w="med" len="med"/>
                      <a:tailEnd type="none" w="med" len="med"/>
                    </a:lnB>
                    <a:noFill/>
                  </a:tcPr>
                </a:tc>
                <a:tc>
                  <a:txBody>
                    <a:bodyPr/>
                    <a:lstStyle/>
                    <a:p>
                      <a:pPr algn="l">
                        <a:buNone/>
                      </a:pPr>
                      <a:r>
                        <a:rPr lang="en-IN" b="0">
                          <a:effectLst/>
                        </a:rPr>
                        <a:t>Turns advisor into a </a:t>
                      </a:r>
                      <a:r>
                        <a:rPr lang="en-IN" b="1">
                          <a:effectLst/>
                        </a:rPr>
                        <a:t>career coach</a:t>
                      </a:r>
                      <a:endParaRPr lang="en-IN" b="0">
                        <a:effectLst/>
                      </a:endParaRPr>
                    </a:p>
                  </a:txBody>
                  <a:tcPr anchor="ctr">
                    <a:lnL w="6096" cap="flat" cmpd="sng" algn="ctr">
                      <a:solidFill>
                        <a:srgbClr val="2A2B2C"/>
                      </a:solidFill>
                      <a:prstDash val="solid"/>
                      <a:round/>
                      <a:headEnd type="none" w="med" len="med"/>
                      <a:tailEnd type="none" w="med" len="med"/>
                    </a:lnL>
                    <a:lnR w="6096" cap="flat" cmpd="sng" algn="ctr">
                      <a:solidFill>
                        <a:srgbClr val="2A2B2C"/>
                      </a:solidFill>
                      <a:prstDash val="solid"/>
                      <a:round/>
                      <a:headEnd type="none" w="med" len="med"/>
                      <a:tailEnd type="none" w="med" len="med"/>
                    </a:lnR>
                    <a:lnT w="6096" cap="flat" cmpd="sng" algn="ctr">
                      <a:solidFill>
                        <a:srgbClr val="2A2B2C"/>
                      </a:solidFill>
                      <a:prstDash val="solid"/>
                      <a:round/>
                      <a:headEnd type="none" w="med" len="med"/>
                      <a:tailEnd type="none" w="med" len="med"/>
                    </a:lnT>
                    <a:lnB w="6096" cap="flat" cmpd="sng" algn="ctr">
                      <a:solidFill>
                        <a:srgbClr val="2A2B2C"/>
                      </a:solidFill>
                      <a:prstDash val="solid"/>
                      <a:round/>
                      <a:headEnd type="none" w="med" len="med"/>
                      <a:tailEnd type="none" w="med" len="med"/>
                    </a:lnB>
                    <a:noFill/>
                  </a:tcPr>
                </a:tc>
                <a:tc>
                  <a:txBody>
                    <a:bodyPr/>
                    <a:lstStyle/>
                    <a:p>
                      <a:pPr algn="l">
                        <a:buNone/>
                      </a:pPr>
                      <a:r>
                        <a:rPr lang="en-IN" b="0" dirty="0">
                          <a:effectLst/>
                        </a:rPr>
                        <a:t>Turns the app into a </a:t>
                      </a:r>
                      <a:r>
                        <a:rPr lang="en-IN" b="1" dirty="0">
                          <a:effectLst/>
                        </a:rPr>
                        <a:t>village-level utility</a:t>
                      </a:r>
                      <a:endParaRPr lang="en-IN" b="0" dirty="0">
                        <a:effectLst/>
                      </a:endParaRPr>
                    </a:p>
                  </a:txBody>
                  <a:tcPr anchor="ctr">
                    <a:lnL w="6096" cap="flat" cmpd="sng" algn="ctr">
                      <a:solidFill>
                        <a:srgbClr val="2A2B2C"/>
                      </a:solidFill>
                      <a:prstDash val="solid"/>
                      <a:round/>
                      <a:headEnd type="none" w="med" len="med"/>
                      <a:tailEnd type="none" w="med" len="med"/>
                    </a:lnL>
                    <a:lnR w="6096" cap="flat" cmpd="sng" algn="ctr">
                      <a:solidFill>
                        <a:srgbClr val="2A2B2C"/>
                      </a:solidFill>
                      <a:prstDash val="solid"/>
                      <a:round/>
                      <a:headEnd type="none" w="med" len="med"/>
                      <a:tailEnd type="none" w="med" len="med"/>
                    </a:lnR>
                    <a:lnT w="6096" cap="flat" cmpd="sng" algn="ctr">
                      <a:solidFill>
                        <a:srgbClr val="2A2B2C"/>
                      </a:solidFill>
                      <a:prstDash val="solid"/>
                      <a:round/>
                      <a:headEnd type="none" w="med" len="med"/>
                      <a:tailEnd type="none" w="med" len="med"/>
                    </a:lnT>
                    <a:lnB w="6096" cap="flat" cmpd="sng" algn="ctr">
                      <a:solidFill>
                        <a:srgbClr val="2A2B2C"/>
                      </a:solidFill>
                      <a:prstDash val="solid"/>
                      <a:round/>
                      <a:headEnd type="none" w="med" len="med"/>
                      <a:tailEnd type="none" w="med" len="med"/>
                    </a:lnB>
                    <a:noFill/>
                  </a:tcPr>
                </a:tc>
                <a:extLst>
                  <a:ext uri="{0D108BD9-81ED-4DB2-BD59-A6C34878D82A}">
                    <a16:rowId xmlns:a16="http://schemas.microsoft.com/office/drawing/2014/main" val="3888395621"/>
                  </a:ext>
                </a:extLst>
              </a:tr>
            </a:tbl>
          </a:graphicData>
        </a:graphic>
      </p:graphicFrame>
      <p:sp>
        <p:nvSpPr>
          <p:cNvPr id="13" name="Rectangle 1">
            <a:extLst>
              <a:ext uri="{FF2B5EF4-FFF2-40B4-BE49-F238E27FC236}">
                <a16:creationId xmlns:a16="http://schemas.microsoft.com/office/drawing/2014/main" id="{650A8B7F-0571-759D-48C8-C925E1068F31}"/>
              </a:ext>
            </a:extLst>
          </p:cNvPr>
          <p:cNvSpPr>
            <a:spLocks noGrp="1" noChangeArrowheads="1"/>
          </p:cNvSpPr>
          <p:nvPr>
            <p:ph type="body" idx="1"/>
          </p:nvPr>
        </p:nvSpPr>
        <p:spPr bwMode="auto">
          <a:xfrm>
            <a:off x="-2164000" y="2340415"/>
            <a:ext cx="405879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1367067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p:pic>
        <p:nvPicPr>
          <p:cNvPr id="5" name="Picture 4">
            <a:extLst>
              <a:ext uri="{FF2B5EF4-FFF2-40B4-BE49-F238E27FC236}">
                <a16:creationId xmlns:a16="http://schemas.microsoft.com/office/drawing/2014/main" id="{C15BFDB3-67A0-4A92-A47E-AE9C102A4F87}"/>
              </a:ext>
            </a:extLst>
          </p:cNvPr>
          <p:cNvPicPr>
            <a:picLocks noChangeAspect="1"/>
          </p:cNvPicPr>
          <p:nvPr/>
        </p:nvPicPr>
        <p:blipFill>
          <a:blip r:embed="rId2"/>
          <a:stretch>
            <a:fillRect/>
          </a:stretch>
        </p:blipFill>
        <p:spPr>
          <a:xfrm>
            <a:off x="2041983" y="851297"/>
            <a:ext cx="7712108" cy="5799323"/>
          </a:xfrm>
          <a:prstGeom prst="rect">
            <a:avLst/>
          </a:prstGeom>
        </p:spPr>
      </p:pic>
    </p:spTree>
    <p:extLst>
      <p:ext uri="{BB962C8B-B14F-4D97-AF65-F5344CB8AC3E}">
        <p14:creationId xmlns:p14="http://schemas.microsoft.com/office/powerpoint/2010/main" val="12290476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pic>
        <p:nvPicPr>
          <p:cNvPr id="8" name="Picture 7">
            <a:extLst>
              <a:ext uri="{FF2B5EF4-FFF2-40B4-BE49-F238E27FC236}">
                <a16:creationId xmlns:a16="http://schemas.microsoft.com/office/drawing/2014/main" id="{39F903E8-8D1C-9BC3-CEAB-B48D9A180C9E}"/>
              </a:ext>
            </a:extLst>
          </p:cNvPr>
          <p:cNvPicPr>
            <a:picLocks noChangeAspect="1"/>
          </p:cNvPicPr>
          <p:nvPr/>
        </p:nvPicPr>
        <p:blipFill>
          <a:blip r:embed="rId2"/>
          <a:stretch>
            <a:fillRect/>
          </a:stretch>
        </p:blipFill>
        <p:spPr>
          <a:xfrm>
            <a:off x="987139" y="903499"/>
            <a:ext cx="10066892" cy="5677392"/>
          </a:xfrm>
          <a:prstGeom prst="rect">
            <a:avLst/>
          </a:prstGeom>
        </p:spPr>
      </p:pic>
    </p:spTree>
    <p:extLst>
      <p:ext uri="{BB962C8B-B14F-4D97-AF65-F5344CB8AC3E}">
        <p14:creationId xmlns:p14="http://schemas.microsoft.com/office/powerpoint/2010/main" val="25066107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1580</TotalTime>
  <Words>901</Words>
  <Application>Microsoft Office PowerPoint</Application>
  <PresentationFormat>Widescreen</PresentationFormat>
  <Paragraphs>105</Paragraphs>
  <Slides>19</Slides>
  <Notes>13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Arial</vt:lpstr>
      <vt:lpstr>Calibri</vt:lpstr>
      <vt:lpstr>Segoe WPC</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Future Scope  </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Xavior Priya</cp:lastModifiedBy>
  <cp:revision>33</cp:revision>
  <dcterms:created xsi:type="dcterms:W3CDTF">2025-07-08T05:06:56Z</dcterms:created>
  <dcterms:modified xsi:type="dcterms:W3CDTF">2026-09-11T16:53:59Z</dcterms:modified>
</cp:coreProperties>
</file>